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heme/theme2.xml" ContentType="application/vnd.openxmlformats-officedocument.them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heme/theme3.xml" ContentType="application/vnd.openxmlformats-officedocument.them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310" r:id="rId2"/>
    <p:sldId id="311" r:id="rId3"/>
    <p:sldId id="313" r:id="rId4"/>
    <p:sldId id="314" r:id="rId5"/>
    <p:sldId id="315" r:id="rId6"/>
    <p:sldId id="320" r:id="rId7"/>
    <p:sldId id="316" r:id="rId8"/>
    <p:sldId id="317" r:id="rId9"/>
    <p:sldId id="318" r:id="rId10"/>
    <p:sldId id="319" r:id="rId11"/>
    <p:sldId id="321" r:id="rId12"/>
    <p:sldId id="322" r:id="rId13"/>
    <p:sldId id="323" r:id="rId14"/>
  </p:sldIdLst>
  <p:sldSz cx="12192000" cy="6858000"/>
  <p:notesSz cx="6858000" cy="9144000"/>
  <p:custDataLst>
    <p:tags r:id="rId1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Noto Sans CJK SC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Noto Sans CJK SC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Noto Sans CJK SC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Noto Sans CJK SC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Noto Sans CJK SC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Noto Sans CJK SC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Noto Sans CJK SC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Noto Sans CJK SC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Noto Sans CJK SC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548235"/>
    <a:srgbClr val="0C1D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A796A9-EA91-402E-A1EA-5A2689513A71}" v="66" dt="2026-09-08T07:27:44.963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383" autoAdjust="0"/>
    <p:restoredTop sz="0"/>
  </p:normalViewPr>
  <p:slideViewPr>
    <p:cSldViewPr>
      <p:cViewPr varScale="1">
        <p:scale>
          <a:sx n="97" d="100"/>
          <a:sy n="97" d="100"/>
        </p:scale>
        <p:origin x="494" y="91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>
      <p:cViewPr>
        <p:scale>
          <a:sx n="66" d="100"/>
          <a:sy n="66" d="100"/>
        </p:scale>
        <p:origin x="3432" y="9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tin Kashyap" userId="a325add542d55a26" providerId="LiveId" clId="{96CD7456-759D-408A-AFED-B7E79B7D70BA}"/>
    <pc:docChg chg="undo custSel addSld delSld modSld modMainMaster">
      <pc:chgData name="Jatin Kashyap" userId="a325add542d55a26" providerId="LiveId" clId="{96CD7456-759D-408A-AFED-B7E79B7D70BA}" dt="2026-09-08T07:30:16.651" v="976" actId="255"/>
      <pc:docMkLst>
        <pc:docMk/>
      </pc:docMkLst>
      <pc:sldChg chg="addSp modSp mod">
        <pc:chgData name="Jatin Kashyap" userId="a325add542d55a26" providerId="LiveId" clId="{96CD7456-759D-408A-AFED-B7E79B7D70BA}" dt="2026-08-31T07:59:07.050" v="5" actId="1076"/>
        <pc:sldMkLst>
          <pc:docMk/>
          <pc:sldMk cId="0" sldId="310"/>
        </pc:sldMkLst>
        <pc:spChg chg="add mod">
          <ac:chgData name="Jatin Kashyap" userId="a325add542d55a26" providerId="LiveId" clId="{96CD7456-759D-408A-AFED-B7E79B7D70BA}" dt="2026-08-31T07:59:07.050" v="5" actId="1076"/>
          <ac:spMkLst>
            <pc:docMk/>
            <pc:sldMk cId="0" sldId="310"/>
            <ac:spMk id="3" creationId="{898CBAF7-3854-B8E5-9678-1667BA411A99}"/>
          </ac:spMkLst>
        </pc:spChg>
      </pc:sldChg>
      <pc:sldChg chg="modSp mod">
        <pc:chgData name="Jatin Kashyap" userId="a325add542d55a26" providerId="LiveId" clId="{96CD7456-759D-408A-AFED-B7E79B7D70BA}" dt="2026-08-31T08:07:26.944" v="22" actId="1076"/>
        <pc:sldMkLst>
          <pc:docMk/>
          <pc:sldMk cId="0" sldId="311"/>
        </pc:sldMkLst>
        <pc:spChg chg="mod">
          <ac:chgData name="Jatin Kashyap" userId="a325add542d55a26" providerId="LiveId" clId="{96CD7456-759D-408A-AFED-B7E79B7D70BA}" dt="2026-08-31T08:01:40.315" v="7"/>
          <ac:spMkLst>
            <pc:docMk/>
            <pc:sldMk cId="0" sldId="311"/>
            <ac:spMk id="9" creationId="{00000000-0000-0000-0000-000000000000}"/>
          </ac:spMkLst>
        </pc:spChg>
        <pc:spChg chg="mod">
          <ac:chgData name="Jatin Kashyap" userId="a325add542d55a26" providerId="LiveId" clId="{96CD7456-759D-408A-AFED-B7E79B7D70BA}" dt="2026-08-31T08:07:26.944" v="22" actId="1076"/>
          <ac:spMkLst>
            <pc:docMk/>
            <pc:sldMk cId="0" sldId="311"/>
            <ac:spMk id="10" creationId="{00000000-0000-0000-0000-000000000000}"/>
          </ac:spMkLst>
        </pc:spChg>
        <pc:spChg chg="mod">
          <ac:chgData name="Jatin Kashyap" userId="a325add542d55a26" providerId="LiveId" clId="{96CD7456-759D-408A-AFED-B7E79B7D70BA}" dt="2026-08-31T08:07:03.236" v="18" actId="108"/>
          <ac:spMkLst>
            <pc:docMk/>
            <pc:sldMk cId="0" sldId="311"/>
            <ac:spMk id="11" creationId="{00000000-0000-0000-0000-000000000000}"/>
          </ac:spMkLst>
        </pc:spChg>
        <pc:spChg chg="mod">
          <ac:chgData name="Jatin Kashyap" userId="a325add542d55a26" providerId="LiveId" clId="{96CD7456-759D-408A-AFED-B7E79B7D70BA}" dt="2026-08-31T08:07:11.577" v="19" actId="1076"/>
          <ac:spMkLst>
            <pc:docMk/>
            <pc:sldMk cId="0" sldId="311"/>
            <ac:spMk id="12" creationId="{00000000-0000-0000-0000-000000000000}"/>
          </ac:spMkLst>
        </pc:spChg>
        <pc:spChg chg="mod">
          <ac:chgData name="Jatin Kashyap" userId="a325add542d55a26" providerId="LiveId" clId="{96CD7456-759D-408A-AFED-B7E79B7D70BA}" dt="2026-08-31T08:07:21.803" v="21" actId="1076"/>
          <ac:spMkLst>
            <pc:docMk/>
            <pc:sldMk cId="0" sldId="311"/>
            <ac:spMk id="13" creationId="{00000000-0000-0000-0000-000000000000}"/>
          </ac:spMkLst>
        </pc:spChg>
      </pc:sldChg>
      <pc:sldChg chg="del">
        <pc:chgData name="Jatin Kashyap" userId="a325add542d55a26" providerId="LiveId" clId="{96CD7456-759D-408A-AFED-B7E79B7D70BA}" dt="2026-09-08T07:13:49.616" v="829" actId="2696"/>
        <pc:sldMkLst>
          <pc:docMk/>
          <pc:sldMk cId="0" sldId="312"/>
        </pc:sldMkLst>
      </pc:sldChg>
      <pc:sldChg chg="addSp delSp modSp mod">
        <pc:chgData name="Jatin Kashyap" userId="a325add542d55a26" providerId="LiveId" clId="{96CD7456-759D-408A-AFED-B7E79B7D70BA}" dt="2026-09-08T07:30:16.651" v="976" actId="255"/>
        <pc:sldMkLst>
          <pc:docMk/>
          <pc:sldMk cId="0" sldId="313"/>
        </pc:sldMkLst>
        <pc:spChg chg="mod">
          <ac:chgData name="Jatin Kashyap" userId="a325add542d55a26" providerId="LiveId" clId="{96CD7456-759D-408A-AFED-B7E79B7D70BA}" dt="2026-09-08T07:30:16.651" v="976" actId="255"/>
          <ac:spMkLst>
            <pc:docMk/>
            <pc:sldMk cId="0" sldId="313"/>
            <ac:spMk id="2" creationId="{00000000-0000-0000-0000-000000000000}"/>
          </ac:spMkLst>
        </pc:spChg>
        <pc:spChg chg="add del mod">
          <ac:chgData name="Jatin Kashyap" userId="a325add542d55a26" providerId="LiveId" clId="{96CD7456-759D-408A-AFED-B7E79B7D70BA}" dt="2026-09-08T07:27:48.208" v="949"/>
          <ac:spMkLst>
            <pc:docMk/>
            <pc:sldMk cId="0" sldId="313"/>
            <ac:spMk id="3" creationId="{6667E3EE-ADC0-5A46-231E-55DB8A699DCB}"/>
          </ac:spMkLst>
        </pc:spChg>
        <pc:spChg chg="mod">
          <ac:chgData name="Jatin Kashyap" userId="a325add542d55a26" providerId="LiveId" clId="{96CD7456-759D-408A-AFED-B7E79B7D70BA}" dt="2026-08-31T12:38:50.292" v="553" actId="120"/>
          <ac:spMkLst>
            <pc:docMk/>
            <pc:sldMk cId="0" sldId="313"/>
            <ac:spMk id="112" creationId="{00000000-0000-0000-0000-000000000000}"/>
          </ac:spMkLst>
        </pc:spChg>
        <pc:grpChg chg="mod">
          <ac:chgData name="Jatin Kashyap" userId="a325add542d55a26" providerId="LiveId" clId="{96CD7456-759D-408A-AFED-B7E79B7D70BA}" dt="2026-08-31T12:38:43.236" v="551" actId="1076"/>
          <ac:grpSpMkLst>
            <pc:docMk/>
            <pc:sldMk cId="0" sldId="313"/>
            <ac:grpSpMk id="113" creationId="{00000000-0000-0000-0000-000000000000}"/>
          </ac:grpSpMkLst>
        </pc:grpChg>
        <pc:graphicFrameChg chg="add mod">
          <ac:chgData name="Jatin Kashyap" userId="a325add542d55a26" providerId="LiveId" clId="{96CD7456-759D-408A-AFED-B7E79B7D70BA}" dt="2026-08-31T08:15:25.876" v="56" actId="14100"/>
          <ac:graphicFrameMkLst>
            <pc:docMk/>
            <pc:sldMk cId="0" sldId="313"/>
            <ac:graphicFrameMk id="64" creationId="{1934B5AF-7375-E8C8-7A9A-19401788EF75}"/>
          </ac:graphicFrameMkLst>
        </pc:graphicFrameChg>
        <pc:picChg chg="add mod">
          <ac:chgData name="Jatin Kashyap" userId="a325add542d55a26" providerId="LiveId" clId="{96CD7456-759D-408A-AFED-B7E79B7D70BA}" dt="2026-08-31T08:26:03.642" v="67" actId="208"/>
          <ac:picMkLst>
            <pc:docMk/>
            <pc:sldMk cId="0" sldId="313"/>
            <ac:picMk id="69" creationId="{D5FE318A-82AD-9811-2810-3A3A55870F5F}"/>
          </ac:picMkLst>
        </pc:picChg>
      </pc:sldChg>
      <pc:sldChg chg="addSp delSp modSp mod">
        <pc:chgData name="Jatin Kashyap" userId="a325add542d55a26" providerId="LiveId" clId="{96CD7456-759D-408A-AFED-B7E79B7D70BA}" dt="2026-08-31T08:37:04.545" v="126" actId="208"/>
        <pc:sldMkLst>
          <pc:docMk/>
          <pc:sldMk cId="0" sldId="314"/>
        </pc:sldMkLst>
        <pc:spChg chg="mod">
          <ac:chgData name="Jatin Kashyap" userId="a325add542d55a26" providerId="LiveId" clId="{96CD7456-759D-408A-AFED-B7E79B7D70BA}" dt="2026-08-31T08:33:34.514" v="85" actId="20577"/>
          <ac:spMkLst>
            <pc:docMk/>
            <pc:sldMk cId="0" sldId="314"/>
            <ac:spMk id="2" creationId="{00000000-0000-0000-0000-000000000000}"/>
          </ac:spMkLst>
        </pc:spChg>
        <pc:spChg chg="mod">
          <ac:chgData name="Jatin Kashyap" userId="a325add542d55a26" providerId="LiveId" clId="{96CD7456-759D-408A-AFED-B7E79B7D70BA}" dt="2026-08-31T08:36:15.760" v="121" actId="207"/>
          <ac:spMkLst>
            <pc:docMk/>
            <pc:sldMk cId="0" sldId="314"/>
            <ac:spMk id="15" creationId="{00000000-0000-0000-0000-000000000000}"/>
          </ac:spMkLst>
        </pc:spChg>
        <pc:graphicFrameChg chg="add mod">
          <ac:chgData name="Jatin Kashyap" userId="a325add542d55a26" providerId="LiveId" clId="{96CD7456-759D-408A-AFED-B7E79B7D70BA}" dt="2026-08-31T08:37:04.545" v="126" actId="208"/>
          <ac:graphicFrameMkLst>
            <pc:docMk/>
            <pc:sldMk cId="0" sldId="314"/>
            <ac:graphicFrameMk id="7" creationId="{542598E4-87F2-6AF8-0FF6-9D90B6133C9A}"/>
          </ac:graphicFrameMkLst>
        </pc:graphicFrameChg>
      </pc:sldChg>
      <pc:sldChg chg="addSp delSp modSp mod">
        <pc:chgData name="Jatin Kashyap" userId="a325add542d55a26" providerId="LiveId" clId="{96CD7456-759D-408A-AFED-B7E79B7D70BA}" dt="2026-08-31T08:46:37.450" v="198" actId="1076"/>
        <pc:sldMkLst>
          <pc:docMk/>
          <pc:sldMk cId="0" sldId="315"/>
        </pc:sldMkLst>
        <pc:spChg chg="mod">
          <ac:chgData name="Jatin Kashyap" userId="a325add542d55a26" providerId="LiveId" clId="{96CD7456-759D-408A-AFED-B7E79B7D70BA}" dt="2026-08-31T08:46:37.450" v="198" actId="1076"/>
          <ac:spMkLst>
            <pc:docMk/>
            <pc:sldMk cId="0" sldId="315"/>
            <ac:spMk id="2" creationId="{00000000-0000-0000-0000-000000000000}"/>
          </ac:spMkLst>
        </pc:spChg>
        <pc:spChg chg="mod">
          <ac:chgData name="Jatin Kashyap" userId="a325add542d55a26" providerId="LiveId" clId="{96CD7456-759D-408A-AFED-B7E79B7D70BA}" dt="2026-08-31T08:40:50.277" v="141" actId="1076"/>
          <ac:spMkLst>
            <pc:docMk/>
            <pc:sldMk cId="0" sldId="315"/>
            <ac:spMk id="8" creationId="{00000000-0000-0000-0000-000000000000}"/>
          </ac:spMkLst>
        </pc:spChg>
        <pc:spChg chg="mod">
          <ac:chgData name="Jatin Kashyap" userId="a325add542d55a26" providerId="LiveId" clId="{96CD7456-759D-408A-AFED-B7E79B7D70BA}" dt="2026-08-31T08:42:27.562" v="149" actId="1076"/>
          <ac:spMkLst>
            <pc:docMk/>
            <pc:sldMk cId="0" sldId="315"/>
            <ac:spMk id="9" creationId="{00000000-0000-0000-0000-000000000000}"/>
          </ac:spMkLst>
        </pc:spChg>
        <pc:graphicFrameChg chg="add mod">
          <ac:chgData name="Jatin Kashyap" userId="a325add542d55a26" providerId="LiveId" clId="{96CD7456-759D-408A-AFED-B7E79B7D70BA}" dt="2026-08-31T08:43:13.596" v="154" actId="255"/>
          <ac:graphicFrameMkLst>
            <pc:docMk/>
            <pc:sldMk cId="0" sldId="315"/>
            <ac:graphicFrameMk id="6" creationId="{D249DD05-5E65-1F41-93C7-787316BD1A71}"/>
          </ac:graphicFrameMkLst>
        </pc:graphicFrameChg>
      </pc:sldChg>
      <pc:sldChg chg="addSp delSp modSp mod">
        <pc:chgData name="Jatin Kashyap" userId="a325add542d55a26" providerId="LiveId" clId="{96CD7456-759D-408A-AFED-B7E79B7D70BA}" dt="2026-09-08T07:23:55.971" v="897" actId="20577"/>
        <pc:sldMkLst>
          <pc:docMk/>
          <pc:sldMk cId="0" sldId="316"/>
        </pc:sldMkLst>
        <pc:spChg chg="mod">
          <ac:chgData name="Jatin Kashyap" userId="a325add542d55a26" providerId="LiveId" clId="{96CD7456-759D-408A-AFED-B7E79B7D70BA}" dt="2026-08-31T08:54:43.824" v="236" actId="14100"/>
          <ac:spMkLst>
            <pc:docMk/>
            <pc:sldMk cId="0" sldId="316"/>
            <ac:spMk id="7" creationId="{00000000-0000-0000-0000-000000000000}"/>
          </ac:spMkLst>
        </pc:spChg>
        <pc:spChg chg="mod">
          <ac:chgData name="Jatin Kashyap" userId="a325add542d55a26" providerId="LiveId" clId="{96CD7456-759D-408A-AFED-B7E79B7D70BA}" dt="2026-08-31T12:44:48.614" v="609" actId="20577"/>
          <ac:spMkLst>
            <pc:docMk/>
            <pc:sldMk cId="0" sldId="316"/>
            <ac:spMk id="8" creationId="{00000000-0000-0000-0000-000000000000}"/>
          </ac:spMkLst>
        </pc:spChg>
        <pc:graphicFrameChg chg="add mod modGraphic">
          <ac:chgData name="Jatin Kashyap" userId="a325add542d55a26" providerId="LiveId" clId="{96CD7456-759D-408A-AFED-B7E79B7D70BA}" dt="2026-09-08T07:23:55.971" v="897" actId="20577"/>
          <ac:graphicFrameMkLst>
            <pc:docMk/>
            <pc:sldMk cId="0" sldId="316"/>
            <ac:graphicFrameMk id="4" creationId="{061DB91E-00EA-4B12-11F4-1C39AF7CE302}"/>
          </ac:graphicFrameMkLst>
        </pc:graphicFrameChg>
        <pc:picChg chg="mod">
          <ac:chgData name="Jatin Kashyap" userId="a325add542d55a26" providerId="LiveId" clId="{96CD7456-759D-408A-AFED-B7E79B7D70BA}" dt="2026-08-31T08:55:47.340" v="251" actId="1076"/>
          <ac:picMkLst>
            <pc:docMk/>
            <pc:sldMk cId="0" sldId="316"/>
            <ac:picMk id="6" creationId="{00000000-0000-0000-0000-000000000000}"/>
          </ac:picMkLst>
        </pc:picChg>
      </pc:sldChg>
      <pc:sldChg chg="addSp delSp modSp mod">
        <pc:chgData name="Jatin Kashyap" userId="a325add542d55a26" providerId="LiveId" clId="{96CD7456-759D-408A-AFED-B7E79B7D70BA}" dt="2026-09-08T07:29:25.218" v="973" actId="20577"/>
        <pc:sldMkLst>
          <pc:docMk/>
          <pc:sldMk cId="0" sldId="317"/>
        </pc:sldMkLst>
        <pc:spChg chg="mod">
          <ac:chgData name="Jatin Kashyap" userId="a325add542d55a26" providerId="LiveId" clId="{96CD7456-759D-408A-AFED-B7E79B7D70BA}" dt="2026-09-08T07:29:25.218" v="973" actId="20577"/>
          <ac:spMkLst>
            <pc:docMk/>
            <pc:sldMk cId="0" sldId="317"/>
            <ac:spMk id="2" creationId="{00000000-0000-0000-0000-000000000000}"/>
          </ac:spMkLst>
        </pc:spChg>
        <pc:spChg chg="mod">
          <ac:chgData name="Jatin Kashyap" userId="a325add542d55a26" providerId="LiveId" clId="{96CD7456-759D-408A-AFED-B7E79B7D70BA}" dt="2026-08-31T12:52:53.963" v="673" actId="20577"/>
          <ac:spMkLst>
            <pc:docMk/>
            <pc:sldMk cId="0" sldId="317"/>
            <ac:spMk id="8" creationId="{00000000-0000-0000-0000-000000000000}"/>
          </ac:spMkLst>
        </pc:spChg>
        <pc:spChg chg="mod">
          <ac:chgData name="Jatin Kashyap" userId="a325add542d55a26" providerId="LiveId" clId="{96CD7456-759D-408A-AFED-B7E79B7D70BA}" dt="2026-08-31T12:49:41.191" v="630" actId="20577"/>
          <ac:spMkLst>
            <pc:docMk/>
            <pc:sldMk cId="0" sldId="317"/>
            <ac:spMk id="10" creationId="{00000000-0000-0000-0000-000000000000}"/>
          </ac:spMkLst>
        </pc:spChg>
        <pc:graphicFrameChg chg="add mod">
          <ac:chgData name="Jatin Kashyap" userId="a325add542d55a26" providerId="LiveId" clId="{96CD7456-759D-408A-AFED-B7E79B7D70BA}" dt="2026-08-31T12:49:33.900" v="629" actId="14100"/>
          <ac:graphicFrameMkLst>
            <pc:docMk/>
            <pc:sldMk cId="0" sldId="317"/>
            <ac:graphicFrameMk id="11" creationId="{FCE5347C-F8E1-826D-5C94-0AE6BD864F2B}"/>
          </ac:graphicFrameMkLst>
        </pc:graphicFrameChg>
      </pc:sldChg>
      <pc:sldChg chg="addSp delSp modSp mod">
        <pc:chgData name="Jatin Kashyap" userId="a325add542d55a26" providerId="LiveId" clId="{96CD7456-759D-408A-AFED-B7E79B7D70BA}" dt="2026-09-08T07:21:03.948" v="877"/>
        <pc:sldMkLst>
          <pc:docMk/>
          <pc:sldMk cId="0" sldId="318"/>
        </pc:sldMkLst>
        <pc:spChg chg="mod">
          <ac:chgData name="Jatin Kashyap" userId="a325add542d55a26" providerId="LiveId" clId="{96CD7456-759D-408A-AFED-B7E79B7D70BA}" dt="2026-08-31T12:58:05.680" v="704" actId="20577"/>
          <ac:spMkLst>
            <pc:docMk/>
            <pc:sldMk cId="0" sldId="318"/>
            <ac:spMk id="2" creationId="{00000000-0000-0000-0000-000000000000}"/>
          </ac:spMkLst>
        </pc:spChg>
        <pc:spChg chg="mod">
          <ac:chgData name="Jatin Kashyap" userId="a325add542d55a26" providerId="LiveId" clId="{96CD7456-759D-408A-AFED-B7E79B7D70BA}" dt="2026-09-08T07:20:35.136" v="870" actId="1076"/>
          <ac:spMkLst>
            <pc:docMk/>
            <pc:sldMk cId="0" sldId="318"/>
            <ac:spMk id="15" creationId="{00000000-0000-0000-0000-000000000000}"/>
          </ac:spMkLst>
        </pc:spChg>
        <pc:spChg chg="mod">
          <ac:chgData name="Jatin Kashyap" userId="a325add542d55a26" providerId="LiveId" clId="{96CD7456-759D-408A-AFED-B7E79B7D70BA}" dt="2026-09-08T07:20:28.966" v="869" actId="1076"/>
          <ac:spMkLst>
            <pc:docMk/>
            <pc:sldMk cId="0" sldId="318"/>
            <ac:spMk id="16" creationId="{00000000-0000-0000-0000-000000000000}"/>
          </ac:spMkLst>
        </pc:spChg>
        <pc:spChg chg="mod">
          <ac:chgData name="Jatin Kashyap" userId="a325add542d55a26" providerId="LiveId" clId="{96CD7456-759D-408A-AFED-B7E79B7D70BA}" dt="2026-09-08T07:20:22.858" v="868" actId="14100"/>
          <ac:spMkLst>
            <pc:docMk/>
            <pc:sldMk cId="0" sldId="318"/>
            <ac:spMk id="17" creationId="{00000000-0000-0000-0000-000000000000}"/>
          </ac:spMkLst>
        </pc:spChg>
        <pc:spChg chg="mod">
          <ac:chgData name="Jatin Kashyap" userId="a325add542d55a26" providerId="LiveId" clId="{96CD7456-759D-408A-AFED-B7E79B7D70BA}" dt="2026-09-08T07:20:47.794" v="872" actId="1076"/>
          <ac:spMkLst>
            <pc:docMk/>
            <pc:sldMk cId="0" sldId="318"/>
            <ac:spMk id="20" creationId="{00000000-0000-0000-0000-000000000000}"/>
          </ac:spMkLst>
        </pc:spChg>
        <pc:spChg chg="mod">
          <ac:chgData name="Jatin Kashyap" userId="a325add542d55a26" providerId="LiveId" clId="{96CD7456-759D-408A-AFED-B7E79B7D70BA}" dt="2026-08-31T09:21:29.157" v="390" actId="6549"/>
          <ac:spMkLst>
            <pc:docMk/>
            <pc:sldMk cId="0" sldId="318"/>
            <ac:spMk id="21" creationId="{00000000-0000-0000-0000-000000000000}"/>
          </ac:spMkLst>
        </pc:spChg>
        <pc:graphicFrameChg chg="add del mod">
          <ac:chgData name="Jatin Kashyap" userId="a325add542d55a26" providerId="LiveId" clId="{96CD7456-759D-408A-AFED-B7E79B7D70BA}" dt="2026-09-08T07:19:24.357" v="857" actId="478"/>
          <ac:graphicFrameMkLst>
            <pc:docMk/>
            <pc:sldMk cId="0" sldId="318"/>
            <ac:graphicFrameMk id="3" creationId="{08CE4ADE-5D98-7895-988C-D1F90A6A9F39}"/>
          </ac:graphicFrameMkLst>
        </pc:graphicFrameChg>
        <pc:graphicFrameChg chg="mod">
          <ac:chgData name="Jatin Kashyap" userId="a325add542d55a26" providerId="LiveId" clId="{96CD7456-759D-408A-AFED-B7E79B7D70BA}" dt="2026-09-08T07:21:03.948" v="877"/>
          <ac:graphicFrameMkLst>
            <pc:docMk/>
            <pc:sldMk cId="0" sldId="318"/>
            <ac:graphicFrameMk id="4" creationId="{EF730F17-6BEB-31C0-94AA-6B5000350183}"/>
          </ac:graphicFrameMkLst>
        </pc:graphicFrameChg>
        <pc:graphicFrameChg chg="del mod">
          <ac:chgData name="Jatin Kashyap" userId="a325add542d55a26" providerId="LiveId" clId="{96CD7456-759D-408A-AFED-B7E79B7D70BA}" dt="2026-09-08T07:15:57.083" v="839" actId="478"/>
          <ac:graphicFrameMkLst>
            <pc:docMk/>
            <pc:sldMk cId="0" sldId="318"/>
            <ac:graphicFrameMk id="27" creationId="{2988F6E9-DF69-9666-F6A9-B90C341C802D}"/>
          </ac:graphicFrameMkLst>
        </pc:graphicFrameChg>
      </pc:sldChg>
      <pc:sldChg chg="addSp delSp modSp mod">
        <pc:chgData name="Jatin Kashyap" userId="a325add542d55a26" providerId="LiveId" clId="{96CD7456-759D-408A-AFED-B7E79B7D70BA}" dt="2026-09-08T07:22:37.705" v="882" actId="20577"/>
        <pc:sldMkLst>
          <pc:docMk/>
          <pc:sldMk cId="0" sldId="319"/>
        </pc:sldMkLst>
        <pc:spChg chg="mod">
          <ac:chgData name="Jatin Kashyap" userId="a325add542d55a26" providerId="LiveId" clId="{96CD7456-759D-408A-AFED-B7E79B7D70BA}" dt="2026-09-08T07:22:37.705" v="882" actId="20577"/>
          <ac:spMkLst>
            <pc:docMk/>
            <pc:sldMk cId="0" sldId="319"/>
            <ac:spMk id="2" creationId="{00000000-0000-0000-0000-000000000000}"/>
          </ac:spMkLst>
        </pc:spChg>
        <pc:graphicFrameChg chg="add mod">
          <ac:chgData name="Jatin Kashyap" userId="a325add542d55a26" providerId="LiveId" clId="{96CD7456-759D-408A-AFED-B7E79B7D70BA}" dt="2026-08-31T09:24:38.782" v="429" actId="14100"/>
          <ac:graphicFrameMkLst>
            <pc:docMk/>
            <pc:sldMk cId="0" sldId="319"/>
            <ac:graphicFrameMk id="6" creationId="{99B18797-7640-4699-91DF-228E5F1F485C}"/>
          </ac:graphicFrameMkLst>
        </pc:graphicFrameChg>
      </pc:sldChg>
      <pc:sldChg chg="addSp delSp modSp add mod">
        <pc:chgData name="Jatin Kashyap" userId="a325add542d55a26" providerId="LiveId" clId="{96CD7456-759D-408A-AFED-B7E79B7D70BA}" dt="2026-09-08T07:24:45.332" v="936" actId="208"/>
        <pc:sldMkLst>
          <pc:docMk/>
          <pc:sldMk cId="101405837" sldId="320"/>
        </pc:sldMkLst>
        <pc:spChg chg="mod">
          <ac:chgData name="Jatin Kashyap" userId="a325add542d55a26" providerId="LiveId" clId="{96CD7456-759D-408A-AFED-B7E79B7D70BA}" dt="2026-08-31T08:46:44.661" v="205" actId="20577"/>
          <ac:spMkLst>
            <pc:docMk/>
            <pc:sldMk cId="101405837" sldId="320"/>
            <ac:spMk id="2" creationId="{79358FC7-A6E4-3AD1-8BD1-CF3E652E3999}"/>
          </ac:spMkLst>
        </pc:spChg>
        <pc:spChg chg="mod">
          <ac:chgData name="Jatin Kashyap" userId="a325add542d55a26" providerId="LiveId" clId="{96CD7456-759D-408A-AFED-B7E79B7D70BA}" dt="2026-08-31T12:44:34.137" v="607" actId="255"/>
          <ac:spMkLst>
            <pc:docMk/>
            <pc:sldMk cId="101405837" sldId="320"/>
            <ac:spMk id="16" creationId="{907AFC71-C884-7EFF-77DA-A158A2754A6C}"/>
          </ac:spMkLst>
        </pc:spChg>
        <pc:spChg chg="mod">
          <ac:chgData name="Jatin Kashyap" userId="a325add542d55a26" providerId="LiveId" clId="{96CD7456-759D-408A-AFED-B7E79B7D70BA}" dt="2026-08-31T08:52:10.294" v="225" actId="20577"/>
          <ac:spMkLst>
            <pc:docMk/>
            <pc:sldMk cId="101405837" sldId="320"/>
            <ac:spMk id="17" creationId="{978F8870-8751-50C0-ADBC-96022818516A}"/>
          </ac:spMkLst>
        </pc:spChg>
        <pc:graphicFrameChg chg="add mod">
          <ac:chgData name="Jatin Kashyap" userId="a325add542d55a26" providerId="LiveId" clId="{96CD7456-759D-408A-AFED-B7E79B7D70BA}" dt="2026-09-08T07:24:45.332" v="936" actId="208"/>
          <ac:graphicFrameMkLst>
            <pc:docMk/>
            <pc:sldMk cId="101405837" sldId="320"/>
            <ac:graphicFrameMk id="11" creationId="{7024D885-3C41-59B3-362D-C50FF7E41C23}"/>
          </ac:graphicFrameMkLst>
        </pc:graphicFrameChg>
      </pc:sldChg>
      <pc:sldChg chg="addSp delSp modSp add mod">
        <pc:chgData name="Jatin Kashyap" userId="a325add542d55a26" providerId="LiveId" clId="{96CD7456-759D-408A-AFED-B7E79B7D70BA}" dt="2026-09-08T07:15:33.457" v="838" actId="20577"/>
        <pc:sldMkLst>
          <pc:docMk/>
          <pc:sldMk cId="4262568297" sldId="321"/>
        </pc:sldMkLst>
        <pc:spChg chg="mod">
          <ac:chgData name="Jatin Kashyap" userId="a325add542d55a26" providerId="LiveId" clId="{96CD7456-759D-408A-AFED-B7E79B7D70BA}" dt="2026-09-08T07:14:52.086" v="834" actId="1076"/>
          <ac:spMkLst>
            <pc:docMk/>
            <pc:sldMk cId="4262568297" sldId="321"/>
            <ac:spMk id="2" creationId="{AB540737-74E2-CC8A-015B-E7162E5380F5}"/>
          </ac:spMkLst>
        </pc:spChg>
        <pc:spChg chg="add mod">
          <ac:chgData name="Jatin Kashyap" userId="a325add542d55a26" providerId="LiveId" clId="{96CD7456-759D-408A-AFED-B7E79B7D70BA}" dt="2026-08-31T13:01:36.466" v="755" actId="255"/>
          <ac:spMkLst>
            <pc:docMk/>
            <pc:sldMk cId="4262568297" sldId="321"/>
            <ac:spMk id="6" creationId="{D504284C-6F20-10DA-4933-02E0062958AC}"/>
          </ac:spMkLst>
        </pc:spChg>
        <pc:spChg chg="mod">
          <ac:chgData name="Jatin Kashyap" userId="a325add542d55a26" providerId="LiveId" clId="{96CD7456-759D-408A-AFED-B7E79B7D70BA}" dt="2026-08-31T13:01:27.254" v="754" actId="255"/>
          <ac:spMkLst>
            <pc:docMk/>
            <pc:sldMk cId="4262568297" sldId="321"/>
            <ac:spMk id="8" creationId="{2979B1DA-0093-F8F1-1CE7-A8C2F055E7AD}"/>
          </ac:spMkLst>
        </pc:spChg>
        <pc:spChg chg="mod">
          <ac:chgData name="Jatin Kashyap" userId="a325add542d55a26" providerId="LiveId" clId="{96CD7456-759D-408A-AFED-B7E79B7D70BA}" dt="2026-08-31T09:29:04.121" v="462" actId="20577"/>
          <ac:spMkLst>
            <pc:docMk/>
            <pc:sldMk cId="4262568297" sldId="321"/>
            <ac:spMk id="12" creationId="{540B15E1-BF46-7EBD-7BD3-BBB64C2430CA}"/>
          </ac:spMkLst>
        </pc:spChg>
        <pc:spChg chg="mod">
          <ac:chgData name="Jatin Kashyap" userId="a325add542d55a26" providerId="LiveId" clId="{96CD7456-759D-408A-AFED-B7E79B7D70BA}" dt="2026-08-31T09:28:58.548" v="461" actId="20577"/>
          <ac:spMkLst>
            <pc:docMk/>
            <pc:sldMk cId="4262568297" sldId="321"/>
            <ac:spMk id="13" creationId="{0448C90D-59E6-C7A1-979F-5B0E8E9AB5D8}"/>
          </ac:spMkLst>
        </pc:spChg>
        <pc:spChg chg="mod">
          <ac:chgData name="Jatin Kashyap" userId="a325add542d55a26" providerId="LiveId" clId="{96CD7456-759D-408A-AFED-B7E79B7D70BA}" dt="2026-09-08T07:15:33.457" v="838" actId="20577"/>
          <ac:spMkLst>
            <pc:docMk/>
            <pc:sldMk cId="4262568297" sldId="321"/>
            <ac:spMk id="16" creationId="{973B9FA3-D2E4-4D11-F6B3-464A31B702C7}"/>
          </ac:spMkLst>
        </pc:spChg>
        <pc:spChg chg="mod">
          <ac:chgData name="Jatin Kashyap" userId="a325add542d55a26" providerId="LiveId" clId="{96CD7456-759D-408A-AFED-B7E79B7D70BA}" dt="2026-08-31T09:28:54.047" v="460" actId="20577"/>
          <ac:spMkLst>
            <pc:docMk/>
            <pc:sldMk cId="4262568297" sldId="321"/>
            <ac:spMk id="17" creationId="{A1B0E218-2D6F-0F7F-15C3-973268AA770C}"/>
          </ac:spMkLst>
        </pc:spChg>
        <pc:graphicFrameChg chg="add mod">
          <ac:chgData name="Jatin Kashyap" userId="a325add542d55a26" providerId="LiveId" clId="{96CD7456-759D-408A-AFED-B7E79B7D70BA}" dt="2026-08-31T09:28:21.172" v="457" actId="14100"/>
          <ac:graphicFrameMkLst>
            <pc:docMk/>
            <pc:sldMk cId="4262568297" sldId="321"/>
            <ac:graphicFrameMk id="7" creationId="{AEFE4854-752D-4F17-BDDD-BD65F1170533}"/>
          </ac:graphicFrameMkLst>
        </pc:graphicFrameChg>
      </pc:sldChg>
      <pc:sldChg chg="addSp delSp modSp add mod">
        <pc:chgData name="Jatin Kashyap" userId="a325add542d55a26" providerId="LiveId" clId="{96CD7456-759D-408A-AFED-B7E79B7D70BA}" dt="2026-09-08T07:22:59.744" v="888" actId="20577"/>
        <pc:sldMkLst>
          <pc:docMk/>
          <pc:sldMk cId="2998695207" sldId="322"/>
        </pc:sldMkLst>
        <pc:spChg chg="mod">
          <ac:chgData name="Jatin Kashyap" userId="a325add542d55a26" providerId="LiveId" clId="{96CD7456-759D-408A-AFED-B7E79B7D70BA}" dt="2026-09-08T07:22:59.744" v="888" actId="20577"/>
          <ac:spMkLst>
            <pc:docMk/>
            <pc:sldMk cId="2998695207" sldId="322"/>
            <ac:spMk id="2" creationId="{9A272B9B-8FAC-C64B-23DB-2E35B088659D}"/>
          </ac:spMkLst>
        </pc:spChg>
        <pc:graphicFrameChg chg="add mod">
          <ac:chgData name="Jatin Kashyap" userId="a325add542d55a26" providerId="LiveId" clId="{96CD7456-759D-408A-AFED-B7E79B7D70BA}" dt="2026-08-31T09:30:45.772" v="491" actId="14100"/>
          <ac:graphicFrameMkLst>
            <pc:docMk/>
            <pc:sldMk cId="2998695207" sldId="322"/>
            <ac:graphicFrameMk id="3" creationId="{0FEA5F00-86D3-49D1-B5BD-945A3A21DB1F}"/>
          </ac:graphicFrameMkLst>
        </pc:graphicFrameChg>
      </pc:sldChg>
      <pc:sldChg chg="addSp delSp modSp add mod">
        <pc:chgData name="Jatin Kashyap" userId="a325add542d55a26" providerId="LiveId" clId="{96CD7456-759D-408A-AFED-B7E79B7D70BA}" dt="2026-09-08T07:30:00.957" v="975" actId="255"/>
        <pc:sldMkLst>
          <pc:docMk/>
          <pc:sldMk cId="1401156992" sldId="323"/>
        </pc:sldMkLst>
        <pc:spChg chg="mod">
          <ac:chgData name="Jatin Kashyap" userId="a325add542d55a26" providerId="LiveId" clId="{96CD7456-759D-408A-AFED-B7E79B7D70BA}" dt="2026-09-08T07:29:51.361" v="974" actId="255"/>
          <ac:spMkLst>
            <pc:docMk/>
            <pc:sldMk cId="1401156992" sldId="323"/>
            <ac:spMk id="2" creationId="{B0A47225-9BD9-5ABC-1FE4-E9216D7C4AFD}"/>
          </ac:spMkLst>
        </pc:spChg>
        <pc:spChg chg="mod">
          <ac:chgData name="Jatin Kashyap" userId="a325add542d55a26" providerId="LiveId" clId="{96CD7456-759D-408A-AFED-B7E79B7D70BA}" dt="2026-09-08T07:30:00.957" v="975" actId="255"/>
          <ac:spMkLst>
            <pc:docMk/>
            <pc:sldMk cId="1401156992" sldId="323"/>
            <ac:spMk id="5" creationId="{F70F0F01-E0B4-EC42-9649-A0DD37A25031}"/>
          </ac:spMkLst>
        </pc:spChg>
        <pc:spChg chg="del">
          <ac:chgData name="Jatin Kashyap" userId="a325add542d55a26" providerId="LiveId" clId="{96CD7456-759D-408A-AFED-B7E79B7D70BA}" dt="2026-09-08T07:25:44.086" v="937" actId="478"/>
          <ac:spMkLst>
            <pc:docMk/>
            <pc:sldMk cId="1401156992" sldId="323"/>
            <ac:spMk id="8" creationId="{E6A581F2-E0BC-08FD-3FBB-14F5F4A0CC81}"/>
          </ac:spMkLst>
        </pc:spChg>
        <pc:spChg chg="add del mod">
          <ac:chgData name="Jatin Kashyap" userId="a325add542d55a26" providerId="LiveId" clId="{96CD7456-759D-408A-AFED-B7E79B7D70BA}" dt="2026-09-08T07:27:36.664" v="946" actId="478"/>
          <ac:spMkLst>
            <pc:docMk/>
            <pc:sldMk cId="1401156992" sldId="323"/>
            <ac:spMk id="9" creationId="{FD5AB3BD-BB1D-3D6E-C6C2-8052DD3B1294}"/>
          </ac:spMkLst>
        </pc:spChg>
      </pc:sldChg>
      <pc:sldMasterChg chg="modSldLayout">
        <pc:chgData name="Jatin Kashyap" userId="a325add542d55a26" providerId="LiveId" clId="{96CD7456-759D-408A-AFED-B7E79B7D70BA}" dt="2026-09-08T07:28:20.152" v="952" actId="478"/>
        <pc:sldMasterMkLst>
          <pc:docMk/>
          <pc:sldMasterMk cId="0" sldId="2147483648"/>
        </pc:sldMasterMkLst>
        <pc:sldLayoutChg chg="addSp delSp mod">
          <pc:chgData name="Jatin Kashyap" userId="a325add542d55a26" providerId="LiveId" clId="{96CD7456-759D-408A-AFED-B7E79B7D70BA}" dt="2026-09-08T07:28:20.152" v="952" actId="478"/>
          <pc:sldLayoutMkLst>
            <pc:docMk/>
            <pc:sldMasterMk cId="0" sldId="2147483648"/>
            <pc:sldLayoutMk cId="1932965386" sldId="2147483662"/>
          </pc:sldLayoutMkLst>
          <pc:picChg chg="add del">
            <ac:chgData name="Jatin Kashyap" userId="a325add542d55a26" providerId="LiveId" clId="{96CD7456-759D-408A-AFED-B7E79B7D70BA}" dt="2026-09-08T07:28:20.152" v="952" actId="478"/>
            <ac:picMkLst>
              <pc:docMk/>
              <pc:sldMasterMk cId="0" sldId="2147483648"/>
              <pc:sldLayoutMk cId="1932965386" sldId="2147483662"/>
              <ac:picMk id="9" creationId="{608D27BA-938C-CA1C-513F-F72B73F67081}"/>
            </ac:picMkLst>
          </pc:picChg>
        </pc:sldLayoutChg>
        <pc:sldLayoutChg chg="addSp delSp mod">
          <pc:chgData name="Jatin Kashyap" userId="a325add542d55a26" providerId="LiveId" clId="{96CD7456-759D-408A-AFED-B7E79B7D70BA}" dt="2026-09-08T07:28:16.728" v="951" actId="478"/>
          <pc:sldLayoutMkLst>
            <pc:docMk/>
            <pc:sldMasterMk cId="0" sldId="2147483648"/>
            <pc:sldLayoutMk cId="1824501249" sldId="2147483664"/>
          </pc:sldLayoutMkLst>
          <pc:picChg chg="add del">
            <ac:chgData name="Jatin Kashyap" userId="a325add542d55a26" providerId="LiveId" clId="{96CD7456-759D-408A-AFED-B7E79B7D70BA}" dt="2026-09-08T07:28:16.728" v="951" actId="478"/>
            <ac:picMkLst>
              <pc:docMk/>
              <pc:sldMasterMk cId="0" sldId="2147483648"/>
              <pc:sldLayoutMk cId="1824501249" sldId="2147483664"/>
              <ac:picMk id="2" creationId="{A1182797-CA05-F6EC-441D-62FCEBB5B8FF}"/>
            </ac:picMkLst>
          </pc:picChg>
        </pc:sldLayoutChg>
        <pc:sldLayoutChg chg="addSp delSp mod">
          <pc:chgData name="Jatin Kashyap" userId="a325add542d55a26" providerId="LiveId" clId="{96CD7456-759D-408A-AFED-B7E79B7D70BA}" dt="2026-09-08T07:28:12.327" v="950" actId="478"/>
          <pc:sldLayoutMkLst>
            <pc:docMk/>
            <pc:sldMasterMk cId="0" sldId="2147483648"/>
            <pc:sldLayoutMk cId="1723964420" sldId="2147483665"/>
          </pc:sldLayoutMkLst>
          <pc:picChg chg="add del">
            <ac:chgData name="Jatin Kashyap" userId="a325add542d55a26" providerId="LiveId" clId="{96CD7456-759D-408A-AFED-B7E79B7D70BA}" dt="2026-09-08T07:28:12.327" v="950" actId="478"/>
            <ac:picMkLst>
              <pc:docMk/>
              <pc:sldMasterMk cId="0" sldId="2147483648"/>
              <pc:sldLayoutMk cId="1723964420" sldId="2147483665"/>
              <ac:picMk id="2" creationId="{E9854A82-E75D-D8EE-E810-7E409DB7C38C}"/>
            </ac:picMkLst>
          </pc:picChg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https://d.docs.live.net/a325add542d55a26/Desktop/Data%20Analyst%20Bootcamp/Data%20Analyst%20Bootcamp/Job%20Application%20Tips/2.%20SQL%20Project%20for%20your%20Portfolio/SQL%20Results%20Visuals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oleObject" Target="https://d.docs.live.net/a325add542d55a26/Desktop/Data%20Analyst%20Bootcamp/Data%20Analyst%20Bootcamp/Job%20Application%20Tips/2.%20SQL%20Project%20for%20your%20Portfolio/SQL%20Results%20Visuals.xlsx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325add542d55a26/Desktop/Data%20Analyst%20Bootcamp/Data%20Analyst%20Bootcamp/Job%20Application%20Tips/2.%20SQL%20Project%20for%20your%20Portfolio/SQL%20Results%20Visual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325add542d55a26/Desktop/Data%20Analyst%20Bootcamp/Data%20Analyst%20Bootcamp/Job%20Application%20Tips/2.%20SQL%20Project%20for%20your%20Portfolio/SQL%20Results%20Visuals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325add542d55a26/Desktop/Data%20Analyst%20Bootcamp/Data%20Analyst%20Bootcamp/Job%20Application%20Tips/2.%20SQL%20Project%20for%20your%20Portfolio/SQL%20Results%20Visuals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b="1">
                <a:solidFill>
                  <a:schemeClr val="tx1"/>
                </a:solidFill>
              </a:rPr>
              <a:t>Count</a:t>
            </a:r>
            <a:r>
              <a:rPr lang="en-IN" b="1" baseline="0">
                <a:solidFill>
                  <a:schemeClr val="tx1"/>
                </a:solidFill>
              </a:rPr>
              <a:t> of Unique Products (2020 vs 2021)</a:t>
            </a:r>
            <a:endParaRPr lang="en-IN" b="1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>
        <c:manualLayout>
          <c:layoutTarget val="inner"/>
          <c:xMode val="edge"/>
          <c:yMode val="edge"/>
          <c:x val="7.5269142220945995E-2"/>
          <c:y val="0.14386821170549557"/>
          <c:w val="0.87354723653785116"/>
          <c:h val="0.695167018426820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'2'!$B$6</c:f>
              <c:strCache>
                <c:ptCount val="1"/>
                <c:pt idx="0">
                  <c:v>unique_product_2020</c:v>
                </c:pt>
              </c:strCache>
            </c:strRef>
          </c:tx>
          <c:spPr>
            <a:solidFill>
              <a:srgbClr val="ABFFE2">
                <a:lumMod val="25000"/>
              </a:srgb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'2'!$B$7</c:f>
              <c:numCache>
                <c:formatCode>General</c:formatCode>
                <c:ptCount val="1"/>
                <c:pt idx="0">
                  <c:v>245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047-4BCD-9DE2-A35E9A7A2AE4}"/>
            </c:ext>
          </c:extLst>
        </c:ser>
        <c:ser>
          <c:idx val="1"/>
          <c:order val="1"/>
          <c:tx>
            <c:strRef>
              <c:f>'2'!$C$6</c:f>
              <c:strCache>
                <c:ptCount val="1"/>
                <c:pt idx="0">
                  <c:v>unique_products_2021</c:v>
                </c:pt>
              </c:strCache>
            </c:strRef>
          </c:tx>
          <c:spPr>
            <a:solidFill>
              <a:srgbClr val="ABFFE3">
                <a:lumMod val="10000"/>
              </a:srgb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'2'!$C$7</c:f>
              <c:numCache>
                <c:formatCode>General</c:formatCode>
                <c:ptCount val="1"/>
                <c:pt idx="0">
                  <c:v>334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047-4BCD-9DE2-A35E9A7A2AE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27862799"/>
        <c:axId val="2059841231"/>
      </c:barChart>
      <c:catAx>
        <c:axId val="427862799"/>
        <c:scaling>
          <c:orientation val="minMax"/>
        </c:scaling>
        <c:delete val="1"/>
        <c:axPos val="b"/>
        <c:majorTickMark val="none"/>
        <c:minorTickMark val="none"/>
        <c:tickLblPos val="nextTo"/>
        <c:crossAx val="2059841231"/>
        <c:crosses val="autoZero"/>
        <c:auto val="1"/>
        <c:lblAlgn val="ctr"/>
        <c:lblOffset val="100"/>
        <c:noMultiLvlLbl val="0"/>
      </c:catAx>
      <c:valAx>
        <c:axId val="205984123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27862799"/>
        <c:crosses val="autoZero"/>
        <c:crossBetween val="between"/>
      </c:valAx>
      <c:spPr>
        <a:noFill/>
        <a:ln>
          <a:solidFill>
            <a:srgbClr val="FFFFFF"/>
          </a:solidFill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rgbClr val="000000"/>
      </a:solidFill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>
                <a:solidFill>
                  <a:schemeClr val="tx1"/>
                </a:solidFill>
              </a:rPr>
              <a:t>Product</a:t>
            </a:r>
            <a:r>
              <a:rPr lang="en-US" b="1" baseline="0">
                <a:solidFill>
                  <a:schemeClr val="tx1"/>
                </a:solidFill>
              </a:rPr>
              <a:t> Count by Segment </a:t>
            </a:r>
            <a:endParaRPr lang="en-US" b="1">
              <a:solidFill>
                <a:schemeClr val="tx1"/>
              </a:solidFill>
            </a:endParaRPr>
          </a:p>
        </c:rich>
      </c:tx>
      <c:layout>
        <c:manualLayout>
          <c:xMode val="edge"/>
          <c:yMode val="edge"/>
          <c:x val="8.4981383141060924E-3"/>
          <c:y val="7.1219462951746309E-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'3'!$B$5</c:f>
              <c:strCache>
                <c:ptCount val="1"/>
                <c:pt idx="0">
                  <c:v>product_count</c:v>
                </c:pt>
              </c:strCache>
            </c:strRef>
          </c:tx>
          <c:spPr>
            <a:solidFill>
              <a:srgbClr val="08403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'3'!$A$6:$A$11</c:f>
              <c:strCache>
                <c:ptCount val="6"/>
                <c:pt idx="0">
                  <c:v>Notebook</c:v>
                </c:pt>
                <c:pt idx="1">
                  <c:v>Accessories</c:v>
                </c:pt>
                <c:pt idx="2">
                  <c:v>Peripherals</c:v>
                </c:pt>
                <c:pt idx="3">
                  <c:v>Desktop</c:v>
                </c:pt>
                <c:pt idx="4">
                  <c:v>Storage</c:v>
                </c:pt>
                <c:pt idx="5">
                  <c:v>Networking</c:v>
                </c:pt>
              </c:strCache>
            </c:strRef>
          </c:cat>
          <c:val>
            <c:numRef>
              <c:f>'3'!$B$6:$B$11</c:f>
              <c:numCache>
                <c:formatCode>General</c:formatCode>
                <c:ptCount val="6"/>
                <c:pt idx="0">
                  <c:v>129</c:v>
                </c:pt>
                <c:pt idx="1">
                  <c:v>116</c:v>
                </c:pt>
                <c:pt idx="2">
                  <c:v>84</c:v>
                </c:pt>
                <c:pt idx="3">
                  <c:v>32</c:v>
                </c:pt>
                <c:pt idx="4">
                  <c:v>27</c:v>
                </c:pt>
                <c:pt idx="5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BB9-45D3-90D5-452954CCCC6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788635856"/>
        <c:axId val="2130405424"/>
      </c:barChart>
      <c:catAx>
        <c:axId val="788635856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30405424"/>
        <c:crosses val="autoZero"/>
        <c:auto val="1"/>
        <c:lblAlgn val="ctr"/>
        <c:lblOffset val="100"/>
        <c:noMultiLvlLbl val="0"/>
      </c:catAx>
      <c:valAx>
        <c:axId val="2130405424"/>
        <c:scaling>
          <c:orientation val="minMax"/>
        </c:scaling>
        <c:delete val="0"/>
        <c:axPos val="t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886358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b="1" dirty="0"/>
              <a:t>Segment</a:t>
            </a:r>
            <a:r>
              <a:rPr lang="en-IN" b="1" baseline="0" dirty="0"/>
              <a:t>-wise Unique Products Comparison (2021 vs 2020)</a:t>
            </a:r>
            <a:endParaRPr lang="en-IN" b="1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'4'!$B$6</c:f>
              <c:strCache>
                <c:ptCount val="1"/>
                <c:pt idx="0">
                  <c:v>product_count_2021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'4'!$A$7:$A$12</c:f>
              <c:strCache>
                <c:ptCount val="6"/>
                <c:pt idx="0">
                  <c:v>Accessories</c:v>
                </c:pt>
                <c:pt idx="1">
                  <c:v>Peripherals</c:v>
                </c:pt>
                <c:pt idx="2">
                  <c:v>Notebook</c:v>
                </c:pt>
                <c:pt idx="3">
                  <c:v>Desktop</c:v>
                </c:pt>
                <c:pt idx="4">
                  <c:v>Storage</c:v>
                </c:pt>
                <c:pt idx="5">
                  <c:v>Networking</c:v>
                </c:pt>
              </c:strCache>
            </c:strRef>
          </c:cat>
          <c:val>
            <c:numRef>
              <c:f>'4'!$B$7:$B$12</c:f>
              <c:numCache>
                <c:formatCode>General</c:formatCode>
                <c:ptCount val="6"/>
                <c:pt idx="0">
                  <c:v>103</c:v>
                </c:pt>
                <c:pt idx="1">
                  <c:v>75</c:v>
                </c:pt>
                <c:pt idx="2">
                  <c:v>108</c:v>
                </c:pt>
                <c:pt idx="3">
                  <c:v>22</c:v>
                </c:pt>
                <c:pt idx="4">
                  <c:v>17</c:v>
                </c:pt>
                <c:pt idx="5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406-418D-B9FB-5FA1B41ED464}"/>
            </c:ext>
          </c:extLst>
        </c:ser>
        <c:ser>
          <c:idx val="1"/>
          <c:order val="1"/>
          <c:tx>
            <c:strRef>
              <c:f>'4'!$C$6</c:f>
              <c:strCache>
                <c:ptCount val="1"/>
                <c:pt idx="0">
                  <c:v>product_count_2020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'4'!$A$7:$A$12</c:f>
              <c:strCache>
                <c:ptCount val="6"/>
                <c:pt idx="0">
                  <c:v>Accessories</c:v>
                </c:pt>
                <c:pt idx="1">
                  <c:v>Peripherals</c:v>
                </c:pt>
                <c:pt idx="2">
                  <c:v>Notebook</c:v>
                </c:pt>
                <c:pt idx="3">
                  <c:v>Desktop</c:v>
                </c:pt>
                <c:pt idx="4">
                  <c:v>Storage</c:v>
                </c:pt>
                <c:pt idx="5">
                  <c:v>Networking</c:v>
                </c:pt>
              </c:strCache>
            </c:strRef>
          </c:cat>
          <c:val>
            <c:numRef>
              <c:f>'4'!$C$7:$C$12</c:f>
              <c:numCache>
                <c:formatCode>General</c:formatCode>
                <c:ptCount val="6"/>
                <c:pt idx="0">
                  <c:v>69</c:v>
                </c:pt>
                <c:pt idx="1">
                  <c:v>59</c:v>
                </c:pt>
                <c:pt idx="2">
                  <c:v>92</c:v>
                </c:pt>
                <c:pt idx="3">
                  <c:v>7</c:v>
                </c:pt>
                <c:pt idx="4">
                  <c:v>12</c:v>
                </c:pt>
                <c:pt idx="5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406-418D-B9FB-5FA1B41ED46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2025136143"/>
        <c:axId val="918680495"/>
      </c:barChart>
      <c:catAx>
        <c:axId val="20251361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18680495"/>
        <c:crosses val="autoZero"/>
        <c:auto val="1"/>
        <c:lblAlgn val="ctr"/>
        <c:lblOffset val="100"/>
        <c:noMultiLvlLbl val="0"/>
      </c:catAx>
      <c:valAx>
        <c:axId val="91868049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251361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bg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b="1">
                <a:solidFill>
                  <a:schemeClr val="tx1"/>
                </a:solidFill>
              </a:rPr>
              <a:t>Quarterwise Total</a:t>
            </a:r>
            <a:r>
              <a:rPr lang="en-IN" b="1" baseline="0">
                <a:solidFill>
                  <a:schemeClr val="tx1"/>
                </a:solidFill>
              </a:rPr>
              <a:t> Sold Quantity (FY-2020)</a:t>
            </a:r>
            <a:endParaRPr lang="en-IN" b="1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'8'!$B$7</c:f>
              <c:strCache>
                <c:ptCount val="1"/>
                <c:pt idx="0">
                  <c:v>total_sold_quantity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'8'!$A$8:$A$11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Q4</c:v>
                </c:pt>
                <c:pt idx="3">
                  <c:v>Q3</c:v>
                </c:pt>
              </c:strCache>
            </c:strRef>
          </c:cat>
          <c:val>
            <c:numRef>
              <c:f>'8'!$B$8:$B$11</c:f>
              <c:numCache>
                <c:formatCode>General</c:formatCode>
                <c:ptCount val="4"/>
                <c:pt idx="0">
                  <c:v>7005619</c:v>
                </c:pt>
                <c:pt idx="1">
                  <c:v>6649642</c:v>
                </c:pt>
                <c:pt idx="2">
                  <c:v>5042541</c:v>
                </c:pt>
                <c:pt idx="3">
                  <c:v>2075087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E2B-4581-AAF9-0EF6CA5C0FC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898814351"/>
        <c:axId val="1922688303"/>
      </c:barChart>
      <c:catAx>
        <c:axId val="18988143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22688303"/>
        <c:crosses val="autoZero"/>
        <c:auto val="1"/>
        <c:lblAlgn val="ctr"/>
        <c:lblOffset val="100"/>
        <c:noMultiLvlLbl val="0"/>
      </c:catAx>
      <c:valAx>
        <c:axId val="192268830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81435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/>
              <a:t>%</a:t>
            </a:r>
            <a:r>
              <a:rPr lang="en-US" sz="1400" baseline="0"/>
              <a:t> Gross Sales by Channels (FY-2021)</a:t>
            </a:r>
            <a:endParaRPr lang="en-US" sz="140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'9'!$B$6</c:f>
              <c:strCache>
                <c:ptCount val="1"/>
                <c:pt idx="0">
                  <c:v>gross_sales_mln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ABBF-4ED0-AAEA-D3D36D1A42A4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ABBF-4ED0-AAEA-D3D36D1A42A4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ABBF-4ED0-AAEA-D3D36D1A42A4}"/>
              </c:ext>
            </c:extLst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'9'!$A$7:$A$9</c:f>
              <c:strCache>
                <c:ptCount val="3"/>
                <c:pt idx="0">
                  <c:v>Retailer</c:v>
                </c:pt>
                <c:pt idx="1">
                  <c:v>Direct</c:v>
                </c:pt>
                <c:pt idx="2">
                  <c:v>Distributor</c:v>
                </c:pt>
              </c:strCache>
            </c:strRef>
          </c:cat>
          <c:val>
            <c:numRef>
              <c:f>'9'!$B$7:$B$9</c:f>
              <c:numCache>
                <c:formatCode>General</c:formatCode>
                <c:ptCount val="3"/>
                <c:pt idx="0">
                  <c:v>3708.46</c:v>
                </c:pt>
                <c:pt idx="1">
                  <c:v>784.14</c:v>
                </c:pt>
                <c:pt idx="2">
                  <c:v>572.86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BBF-4ED0-AAEA-D3D36D1A42A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[SQL Results Visuals.xlsx]10!PivotTable18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/>
              <a:t>Total Sold</a:t>
            </a:r>
            <a:r>
              <a:rPr lang="en-US" b="1" baseline="0"/>
              <a:t> Quantity by Division and Product (FY-2021)</a:t>
            </a:r>
            <a:endParaRPr lang="en-US" b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'10'!$D$5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'10'!$A$6:$C$15</c:f>
              <c:multiLvlStrCache>
                <c:ptCount val="9"/>
                <c:lvl>
                  <c:pt idx="0">
                    <c:v>AQ Pen Drive 2 IN 1</c:v>
                  </c:pt>
                  <c:pt idx="1">
                    <c:v>AQ Pen Drive DRC</c:v>
                  </c:pt>
                  <c:pt idx="2">
                    <c:v>AQ Pen Drive DRC</c:v>
                  </c:pt>
                  <c:pt idx="3">
                    <c:v>AQ Gamers Ms</c:v>
                  </c:pt>
                  <c:pt idx="4">
                    <c:v>AQ Maxima Ms</c:v>
                  </c:pt>
                  <c:pt idx="5">
                    <c:v>AQ Maxima Ms</c:v>
                  </c:pt>
                  <c:pt idx="6">
                    <c:v>AQ Digit</c:v>
                  </c:pt>
                  <c:pt idx="7">
                    <c:v>AQ Digit</c:v>
                  </c:pt>
                  <c:pt idx="8">
                    <c:v>AQ Velocity</c:v>
                  </c:pt>
                </c:lvl>
                <c:lvl>
                  <c:pt idx="0">
                    <c:v>A6720160103</c:v>
                  </c:pt>
                  <c:pt idx="1">
                    <c:v>A6818160202</c:v>
                  </c:pt>
                  <c:pt idx="2">
                    <c:v>A6819160203</c:v>
                  </c:pt>
                  <c:pt idx="3">
                    <c:v>A2319150302</c:v>
                  </c:pt>
                  <c:pt idx="4">
                    <c:v>A2520150501</c:v>
                  </c:pt>
                  <c:pt idx="5">
                    <c:v>A2520150504</c:v>
                  </c:pt>
                  <c:pt idx="6">
                    <c:v>A4218110202</c:v>
                  </c:pt>
                  <c:pt idx="7">
                    <c:v>A4218110208</c:v>
                  </c:pt>
                  <c:pt idx="8">
                    <c:v>A4319110306</c:v>
                  </c:pt>
                </c:lvl>
                <c:lvl>
                  <c:pt idx="0">
                    <c:v>N &amp; S</c:v>
                  </c:pt>
                  <c:pt idx="3">
                    <c:v>P &amp; A</c:v>
                  </c:pt>
                  <c:pt idx="6">
                    <c:v>PC</c:v>
                  </c:pt>
                </c:lvl>
              </c:multiLvlStrCache>
            </c:multiLvlStrRef>
          </c:cat>
          <c:val>
            <c:numRef>
              <c:f>'10'!$D$6:$D$15</c:f>
              <c:numCache>
                <c:formatCode>General</c:formatCode>
                <c:ptCount val="9"/>
                <c:pt idx="0">
                  <c:v>701373</c:v>
                </c:pt>
                <c:pt idx="1">
                  <c:v>688003</c:v>
                </c:pt>
                <c:pt idx="2">
                  <c:v>676245</c:v>
                </c:pt>
                <c:pt idx="3">
                  <c:v>428498</c:v>
                </c:pt>
                <c:pt idx="4">
                  <c:v>419865</c:v>
                </c:pt>
                <c:pt idx="5">
                  <c:v>419471</c:v>
                </c:pt>
                <c:pt idx="6">
                  <c:v>17434</c:v>
                </c:pt>
                <c:pt idx="7">
                  <c:v>17275</c:v>
                </c:pt>
                <c:pt idx="8">
                  <c:v>17280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413-45DD-8B89-A0989882F6B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896112511"/>
        <c:axId val="1922674383"/>
      </c:barChart>
      <c:catAx>
        <c:axId val="18961125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22674383"/>
        <c:crosses val="autoZero"/>
        <c:auto val="1"/>
        <c:lblAlgn val="ctr"/>
        <c:lblOffset val="100"/>
        <c:noMultiLvlLbl val="0"/>
      </c:catAx>
      <c:valAx>
        <c:axId val="192267438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611251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theme" Target="../theme/theme3.xml"/><Relationship Id="rId5" Type="http://schemas.openxmlformats.org/officeDocument/2006/relationships/tags" Target="../tags/tag23.xml"/><Relationship Id="rId4" Type="http://schemas.openxmlformats.org/officeDocument/2006/relationships/tags" Target="../tags/tag2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9166189-256D-0147-097A-C7F65619CB68}"/>
              </a:ext>
            </a:extLst>
          </p:cNvPr>
          <p:cNvSpPr>
            <a:spLocks noGrp="1"/>
          </p:cNvSpPr>
          <p:nvPr>
            <p:ph type="hdr" sz="quarter"/>
            <p:custDataLst>
              <p:tags r:id="rId2"/>
            </p:custDataLst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K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CC654B-45A2-E61D-7562-278F676A744D}"/>
              </a:ext>
            </a:extLst>
          </p:cNvPr>
          <p:cNvSpPr>
            <a:spLocks noGrp="1"/>
          </p:cNvSpPr>
          <p:nvPr>
            <p:ph type="dt" sz="quarter" idx="1"/>
            <p:custDataLst>
              <p:tags r:id="rId3"/>
            </p:custDataLst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EAE288-F281-AE4A-A449-8C3D3F07BB39}" type="datetimeFigureOut">
              <a:rPr lang="en-KZ" smtClean="0"/>
              <a:t>09/08/2026</a:t>
            </a:fld>
            <a:endParaRPr lang="en-K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C88C18-DE70-A4D4-AFD8-66965FB80CD9}"/>
              </a:ext>
            </a:extLst>
          </p:cNvPr>
          <p:cNvSpPr>
            <a:spLocks noGrp="1"/>
          </p:cNvSpPr>
          <p:nvPr>
            <p:ph type="ftr" sz="quarter" idx="2"/>
            <p:custDataLst>
              <p:tags r:id="rId4"/>
            </p:custDataLst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K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D71071-B653-AAB7-1E95-18FC51F1AB8C}"/>
              </a:ext>
            </a:extLst>
          </p:cNvPr>
          <p:cNvSpPr>
            <a:spLocks noGrp="1"/>
          </p:cNvSpPr>
          <p:nvPr>
            <p:ph type="sldNum" sz="quarter" idx="3"/>
            <p:custDataLst>
              <p:tags r:id="rId5"/>
            </p:custDataLst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7FF952-7D22-B440-B59F-B51F4B891D76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2117885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7" Type="http://schemas.openxmlformats.org/officeDocument/2006/relationships/tags" Target="../tags/tag19.xml"/><Relationship Id="rId2" Type="http://schemas.openxmlformats.org/officeDocument/2006/relationships/tags" Target="../tags/tag14.xml"/><Relationship Id="rId1" Type="http://schemas.openxmlformats.org/officeDocument/2006/relationships/theme" Target="../theme/theme2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  <p:custDataLst>
              <p:tags r:id="rId2"/>
            </p:custDataLst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  <p:custDataLst>
              <p:tags r:id="rId3"/>
            </p:custDataLst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7DC626-2BB2-4A66-966C-A4F8A7A3B0CB}" type="datetimeFigureOut">
              <a:rPr lang="LID4096" smtClean="0"/>
              <a:t>09/08/2026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  <p:custDataLst>
              <p:tags r:id="rId4"/>
            </p:custDataLst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  <p:custDataLst>
              <p:tags r:id="rId6"/>
            </p:custDataLst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  <p:custDataLst>
              <p:tags r:id="rId7"/>
            </p:custDataLst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E38D0C-90AF-470F-9FE4-63B32D4B3E1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74684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9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4" Type="http://schemas.openxmlformats.org/officeDocument/2006/relationships/image" Target="../media/image1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8146185-9EB8-3EFA-AFCA-27969283A998}"/>
              </a:ext>
            </a:extLst>
          </p:cNvPr>
          <p:cNvSpPr>
            <a:spLocks noGrp="1"/>
          </p:cNvSpPr>
          <p:nvPr>
            <p:ph type="title" idx="10"/>
            <p:custDataLst>
              <p:tags r:id="rId1"/>
            </p:custDataLst>
          </p:nvPr>
        </p:nvSpPr>
        <p:spPr>
          <a:xfrm>
            <a:off x="380998" y="228601"/>
            <a:ext cx="11431802" cy="835157"/>
          </a:xfrm>
        </p:spPr>
        <p:txBody>
          <a:bodyPr wrap="square" lIns="0" tIns="0" rIns="0" bIns="0" anchor="ctr">
            <a:normAutofit/>
          </a:bodyPr>
          <a:lstStyle>
            <a:lvl1pPr algn="l">
              <a:defRPr lang="en-US" sz="2800" b="1" i="0">
                <a:solidFill>
                  <a:schemeClr val="tx1"/>
                </a:solidFill>
                <a:latin typeface="Cambria" panose="02040503050406030204" pitchFamily="18" charset="0"/>
                <a:cs typeface="+mn-cs"/>
              </a:defRPr>
            </a:lvl1pPr>
          </a:lstStyle>
          <a:p>
            <a:pPr marL="0" lvl="0" algn="l">
              <a:spcBef>
                <a:spcPct val="21875"/>
              </a:spcBef>
              <a:spcAft>
                <a:spcPct val="21875"/>
              </a:spcAft>
            </a:pPr>
            <a:endParaRPr lang="en-US"/>
          </a:p>
        </p:txBody>
      </p:sp>
      <p:sp>
        <p:nvSpPr>
          <p:cNvPr id="11" name="Text Placeholder 37">
            <a:extLst>
              <a:ext uri="{FF2B5EF4-FFF2-40B4-BE49-F238E27FC236}">
                <a16:creationId xmlns:a16="http://schemas.microsoft.com/office/drawing/2014/main" id="{C2A416DD-0BC5-3D59-8B64-2A55A736CB84}"/>
              </a:ext>
            </a:extLst>
          </p:cNvPr>
          <p:cNvSpPr>
            <a:spLocks noGrp="1"/>
          </p:cNvSpPr>
          <p:nvPr>
            <p:ph type="body" sz="quarter" idx="11" hasCustomPrompt="1"/>
            <p:custDataLst>
              <p:tags r:id="rId2"/>
            </p:custDataLst>
          </p:nvPr>
        </p:nvSpPr>
        <p:spPr>
          <a:xfrm>
            <a:off x="380998" y="6476999"/>
            <a:ext cx="11431802" cy="304799"/>
          </a:xfr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pPr lvl="0"/>
            <a:r>
              <a:rPr lang="en-US"/>
              <a:t>Click to add source</a:t>
            </a:r>
            <a:endParaRPr lang="LID4096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52B06EC-1986-D28C-699C-12EF539B4E5B}"/>
              </a:ext>
            </a:extLst>
          </p:cNvPr>
          <p:cNvCxnSpPr/>
          <p:nvPr userDrawn="1">
            <p:custDataLst>
              <p:tags r:id="rId3"/>
            </p:custDataLst>
          </p:nvPr>
        </p:nvCxnSpPr>
        <p:spPr>
          <a:xfrm>
            <a:off x="0" y="6858000"/>
            <a:ext cx="12192000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7AB7688-AC2D-FDD8-8A00-C7F158A45F12}"/>
              </a:ext>
            </a:extLst>
          </p:cNvPr>
          <p:cNvCxnSpPr/>
          <p:nvPr userDrawn="1">
            <p:custDataLst>
              <p:tags r:id="rId4"/>
            </p:custDataLst>
          </p:nvPr>
        </p:nvCxnSpPr>
        <p:spPr>
          <a:xfrm>
            <a:off x="0" y="0"/>
            <a:ext cx="12192000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3964420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rceptis Fr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1252B27-7204-6227-F07A-6D8A3661C492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583" y="-1"/>
            <a:ext cx="12206926" cy="6858002"/>
          </a:xfrm>
          <a:prstGeom prst="rect">
            <a:avLst/>
          </a:prstGeom>
        </p:spPr>
      </p:pic>
      <p:sp>
        <p:nvSpPr>
          <p:cNvPr id="9" name="Title 5">
            <a:extLst>
              <a:ext uri="{FF2B5EF4-FFF2-40B4-BE49-F238E27FC236}">
                <a16:creationId xmlns:a16="http://schemas.microsoft.com/office/drawing/2014/main" id="{8D79A653-7352-C386-D8FC-A9D991F463BA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40000" y="1371600"/>
            <a:ext cx="6927600" cy="2063426"/>
          </a:xfrm>
        </p:spPr>
        <p:txBody>
          <a:bodyPr anchor="b">
            <a:normAutofit/>
          </a:bodyPr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245012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rceptis Dvd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2D4D34F-34B1-1E03-6B38-A8E5F0875D14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480" y="0"/>
            <a:ext cx="12192000" cy="6858000"/>
          </a:xfrm>
          <a:prstGeom prst="rect">
            <a:avLst/>
          </a:prstGeom>
        </p:spPr>
      </p:pic>
      <p:sp>
        <p:nvSpPr>
          <p:cNvPr id="10" name="Title 5">
            <a:extLst>
              <a:ext uri="{FF2B5EF4-FFF2-40B4-BE49-F238E27FC236}">
                <a16:creationId xmlns:a16="http://schemas.microsoft.com/office/drawing/2014/main" id="{DEEB002D-B344-C393-DE1A-28E37B369A9E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838200" y="1441775"/>
            <a:ext cx="10515600" cy="2063426"/>
          </a:xfrm>
        </p:spPr>
        <p:txBody>
          <a:bodyPr>
            <a:normAutofit/>
          </a:bodyPr>
          <a:lstStyle>
            <a:lvl1pPr>
              <a:defRPr sz="4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32965386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5.xml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4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3.xml"/><Relationship Id="rId5" Type="http://schemas.openxmlformats.org/officeDocument/2006/relationships/tags" Target="../tags/tag2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6"/>
            </p:custDataLst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7"/>
            </p:custDataLst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8"/>
            </p:custDataLst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4" r:id="rId2"/>
    <p:sldLayoutId id="2147483662" r:id="rId3"/>
  </p:sldLayoutIdLst>
  <p:transition/>
  <p:txStyles>
    <p:titleStyle>
      <a:lvl1pPr algn="l" defTabSz="914400" rtl="0" eaLnBrk="1" latinLnBrk="0" hangingPunct="1"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5448" indent="-155448" algn="l" defTabSz="914400" rtl="0" eaLnBrk="1" latinLnBrk="0" hangingPunct="1">
        <a:spcBef>
          <a:spcPts val="5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155448" algn="l" defTabSz="914400" rtl="0" eaLnBrk="1" latinLnBrk="0" hangingPunct="1">
        <a:spcBef>
          <a:spcPts val="5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155448" algn="l" defTabSz="914400" rtl="0" eaLnBrk="1" latinLnBrk="0" hangingPunct="1">
        <a:spcBef>
          <a:spcPts val="5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155448" algn="l" defTabSz="914400" rtl="0" eaLnBrk="1" latinLnBrk="0" hangingPunct="1">
        <a:spcBef>
          <a:spcPts val="5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155448" algn="l" defTabSz="914400" rtl="0" eaLnBrk="1" latinLnBrk="0" hangingPunct="1">
        <a:spcBef>
          <a:spcPts val="500"/>
        </a:spcBef>
        <a:buFont typeface="Arial" pitchFamily="34" charset="0"/>
        <a:buChar char="»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4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34.xml"/><Relationship Id="rId3" Type="http://schemas.openxmlformats.org/officeDocument/2006/relationships/tags" Target="../tags/tag29.xml"/><Relationship Id="rId7" Type="http://schemas.openxmlformats.org/officeDocument/2006/relationships/tags" Target="../tags/tag33.xml"/><Relationship Id="rId12" Type="http://schemas.openxmlformats.org/officeDocument/2006/relationships/image" Target="../media/image3.png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tags" Target="../tags/tag32.xml"/><Relationship Id="rId11" Type="http://schemas.openxmlformats.org/officeDocument/2006/relationships/slideLayout" Target="../slideLayouts/slideLayout1.xml"/><Relationship Id="rId5" Type="http://schemas.openxmlformats.org/officeDocument/2006/relationships/tags" Target="../tags/tag31.xml"/><Relationship Id="rId10" Type="http://schemas.openxmlformats.org/officeDocument/2006/relationships/tags" Target="../tags/tag36.xml"/><Relationship Id="rId4" Type="http://schemas.openxmlformats.org/officeDocument/2006/relationships/tags" Target="../tags/tag30.xml"/><Relationship Id="rId9" Type="http://schemas.openxmlformats.org/officeDocument/2006/relationships/tags" Target="../tags/tag35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44.xml"/><Relationship Id="rId13" Type="http://schemas.openxmlformats.org/officeDocument/2006/relationships/image" Target="../media/image5.png"/><Relationship Id="rId3" Type="http://schemas.openxmlformats.org/officeDocument/2006/relationships/tags" Target="../tags/tag39.xml"/><Relationship Id="rId7" Type="http://schemas.openxmlformats.org/officeDocument/2006/relationships/tags" Target="../tags/tag43.xml"/><Relationship Id="rId12" Type="http://schemas.openxmlformats.org/officeDocument/2006/relationships/image" Target="../media/image4.emf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tags" Target="../tags/tag42.xml"/><Relationship Id="rId11" Type="http://schemas.openxmlformats.org/officeDocument/2006/relationships/package" Target="../embeddings/Microsoft_Excel_Worksheet.xlsx"/><Relationship Id="rId5" Type="http://schemas.openxmlformats.org/officeDocument/2006/relationships/tags" Target="../tags/tag41.xml"/><Relationship Id="rId10" Type="http://schemas.openxmlformats.org/officeDocument/2006/relationships/slideLayout" Target="../slideLayouts/slideLayout1.xml"/><Relationship Id="rId4" Type="http://schemas.openxmlformats.org/officeDocument/2006/relationships/tags" Target="../tags/tag40.xml"/><Relationship Id="rId9" Type="http://schemas.openxmlformats.org/officeDocument/2006/relationships/tags" Target="../tags/tag4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53.xml"/><Relationship Id="rId3" Type="http://schemas.openxmlformats.org/officeDocument/2006/relationships/tags" Target="../tags/tag48.xml"/><Relationship Id="rId7" Type="http://schemas.openxmlformats.org/officeDocument/2006/relationships/tags" Target="../tags/tag52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10" Type="http://schemas.openxmlformats.org/officeDocument/2006/relationships/chart" Target="../charts/chart1.xml"/><Relationship Id="rId4" Type="http://schemas.openxmlformats.org/officeDocument/2006/relationships/tags" Target="../tags/tag49.xml"/><Relationship Id="rId9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61.xml"/><Relationship Id="rId3" Type="http://schemas.openxmlformats.org/officeDocument/2006/relationships/tags" Target="../tags/tag56.xml"/><Relationship Id="rId7" Type="http://schemas.openxmlformats.org/officeDocument/2006/relationships/tags" Target="../tags/tag60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6" Type="http://schemas.openxmlformats.org/officeDocument/2006/relationships/tags" Target="../tags/tag59.xml"/><Relationship Id="rId5" Type="http://schemas.openxmlformats.org/officeDocument/2006/relationships/tags" Target="../tags/tag58.xml"/><Relationship Id="rId10" Type="http://schemas.openxmlformats.org/officeDocument/2006/relationships/chart" Target="../charts/chart2.xml"/><Relationship Id="rId4" Type="http://schemas.openxmlformats.org/officeDocument/2006/relationships/tags" Target="../tags/tag57.xml"/><Relationship Id="rId9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5" Type="http://schemas.openxmlformats.org/officeDocument/2006/relationships/chart" Target="../charts/chart3.xml"/><Relationship Id="rId4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" Type="http://schemas.openxmlformats.org/officeDocument/2006/relationships/tags" Target="../tags/tag65.xml"/><Relationship Id="rId5" Type="http://schemas.openxmlformats.org/officeDocument/2006/relationships/image" Target="../media/image6.png"/><Relationship Id="rId4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Excel_Worksheet1.xlsx"/><Relationship Id="rId3" Type="http://schemas.openxmlformats.org/officeDocument/2006/relationships/tags" Target="../tags/tag70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69.xml"/><Relationship Id="rId1" Type="http://schemas.openxmlformats.org/officeDocument/2006/relationships/tags" Target="../tags/tag68.xml"/><Relationship Id="rId6" Type="http://schemas.openxmlformats.org/officeDocument/2006/relationships/tags" Target="../tags/tag73.xml"/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9" Type="http://schemas.openxmlformats.org/officeDocument/2006/relationships/image" Target="../media/image7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https://d.docs.live.net/a325add542d55a26/Desktop/Data%20Analyst%20Bootcamp/Data%20Analyst%20Bootcamp/Job%20Application%20Tips/2.%20SQL%20Project%20for%20your%20Portfolio/Visuals%20for%20Query%20Resuls%20.xlsx!7!%5bVisuals%20for%20Query%20Resuls%20.xlsx%5d7%20Chart%201" TargetMode="External"/><Relationship Id="rId3" Type="http://schemas.openxmlformats.org/officeDocument/2006/relationships/tags" Target="../tags/tag76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6" Type="http://schemas.openxmlformats.org/officeDocument/2006/relationships/tags" Target="../tags/tag79.xml"/><Relationship Id="rId5" Type="http://schemas.openxmlformats.org/officeDocument/2006/relationships/tags" Target="../tags/tag78.xml"/><Relationship Id="rId4" Type="http://schemas.openxmlformats.org/officeDocument/2006/relationships/tags" Target="../tags/tag77.xml"/><Relationship Id="rId9" Type="http://schemas.openxmlformats.org/officeDocument/2006/relationships/image" Target="../media/image8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3" Type="http://schemas.openxmlformats.org/officeDocument/2006/relationships/tags" Target="../tags/tag82.xml"/><Relationship Id="rId7" Type="http://schemas.openxmlformats.org/officeDocument/2006/relationships/tags" Target="../tags/tag86.xml"/><Relationship Id="rId2" Type="http://schemas.openxmlformats.org/officeDocument/2006/relationships/tags" Target="../tags/tag81.xml"/><Relationship Id="rId1" Type="http://schemas.openxmlformats.org/officeDocument/2006/relationships/tags" Target="../tags/tag80.xml"/><Relationship Id="rId6" Type="http://schemas.openxmlformats.org/officeDocument/2006/relationships/tags" Target="../tags/tag85.xml"/><Relationship Id="rId5" Type="http://schemas.openxmlformats.org/officeDocument/2006/relationships/tags" Target="../tags/tag84.xml"/><Relationship Id="rId4" Type="http://schemas.openxmlformats.org/officeDocument/2006/relationships/tags" Target="../tags/tag83.xml"/><Relationship Id="rId9" Type="http://schemas.openxmlformats.org/officeDocument/2006/relationships/chart" Target="../charts/chart4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3" Type="http://schemas.openxmlformats.org/officeDocument/2006/relationships/tags" Target="../tags/tag89.xml"/><Relationship Id="rId7" Type="http://schemas.openxmlformats.org/officeDocument/2006/relationships/tags" Target="../tags/tag93.xml"/><Relationship Id="rId2" Type="http://schemas.openxmlformats.org/officeDocument/2006/relationships/tags" Target="../tags/tag88.xml"/><Relationship Id="rId1" Type="http://schemas.openxmlformats.org/officeDocument/2006/relationships/tags" Target="../tags/tag87.xml"/><Relationship Id="rId6" Type="http://schemas.openxmlformats.org/officeDocument/2006/relationships/tags" Target="../tags/tag92.xml"/><Relationship Id="rId5" Type="http://schemas.openxmlformats.org/officeDocument/2006/relationships/tags" Target="../tags/tag91.xml"/><Relationship Id="rId4" Type="http://schemas.openxmlformats.org/officeDocument/2006/relationships/tags" Target="../tags/tag90.xml"/><Relationship Id="rId9" Type="http://schemas.openxmlformats.org/officeDocument/2006/relationships/chart" Target="../charts/chart5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hart" Target="../charts/chart6.xml"/><Relationship Id="rId3" Type="http://schemas.openxmlformats.org/officeDocument/2006/relationships/tags" Target="../tags/tag96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95.xml"/><Relationship Id="rId1" Type="http://schemas.openxmlformats.org/officeDocument/2006/relationships/tags" Target="../tags/tag94.xml"/><Relationship Id="rId6" Type="http://schemas.openxmlformats.org/officeDocument/2006/relationships/tags" Target="../tags/tag99.xml"/><Relationship Id="rId5" Type="http://schemas.openxmlformats.org/officeDocument/2006/relationships/tags" Target="../tags/tag98.xml"/><Relationship Id="rId4" Type="http://schemas.openxmlformats.org/officeDocument/2006/relationships/tags" Target="../tags/tag9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102.xml"/><Relationship Id="rId2" Type="http://schemas.openxmlformats.org/officeDocument/2006/relationships/tags" Target="../tags/tag101.xml"/><Relationship Id="rId1" Type="http://schemas.openxmlformats.org/officeDocument/2006/relationships/tags" Target="../tags/tag100.xml"/><Relationship Id="rId4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5"/>
          <p:cNvSpPr txBox="1"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/>
        <p:txBody>
          <a:bodyPr lIns="0" rIns="0">
            <a:normAutofit/>
          </a:bodyPr>
          <a:lstStyle/>
          <a:p>
            <a:pPr algn="l"/>
            <a:r>
              <a:rPr lang="en-US" sz="3918">
                <a:latin typeface="+mj-lt"/>
                <a:ea typeface="+mj-ea"/>
                <a:cs typeface="+mj-lt"/>
              </a:rPr>
              <a:t>Strategic Ad-Hoc Data Insights and Reporting for AtliQ Hardwares </a:t>
            </a:r>
          </a:p>
        </p:txBody>
      </p:sp>
      <p:sp>
        <p:nvSpPr>
          <p:cNvPr id="4" name="Rectangle 3"/>
          <p:cNvSpPr/>
          <p:nvPr>
            <p:custDataLst>
              <p:tags r:id="rId2"/>
            </p:custDataLst>
          </p:nvPr>
        </p:nvSpPr>
        <p:spPr>
          <a:xfrm>
            <a:off x="541020" y="4724400"/>
            <a:ext cx="6926580" cy="3048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9pPr>
          </a:lstStyle>
          <a:p>
            <a:pPr marL="0" algn="l">
              <a:spcBef>
                <a:spcPct val="21875"/>
              </a:spcBef>
              <a:spcAft>
                <a:spcPct val="21875"/>
              </a:spcAft>
            </a:pPr>
            <a:r>
              <a:rPr sz="2000">
                <a:solidFill>
                  <a:srgbClr val="009368"/>
                </a:solidFill>
                <a:latin typeface="+mn-lt"/>
                <a:ea typeface="+mn-ea"/>
                <a:cs typeface="+mn-lt"/>
              </a:rPr>
              <a:t>Consumer Goods Domain — SQL Analytics Challenge </a:t>
            </a:r>
          </a:p>
        </p:txBody>
      </p:sp>
      <p:sp>
        <p:nvSpPr>
          <p:cNvPr id="5" name="Rectangle 4"/>
          <p:cNvSpPr/>
          <p:nvPr>
            <p:custDataLst>
              <p:tags r:id="rId3"/>
            </p:custDataLst>
          </p:nvPr>
        </p:nvSpPr>
        <p:spPr>
          <a:xfrm>
            <a:off x="541020" y="5181600"/>
            <a:ext cx="6926580" cy="3048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9pPr>
          </a:lstStyle>
          <a:p>
            <a:pPr marL="0" algn="l">
              <a:spcBef>
                <a:spcPct val="21875"/>
              </a:spcBef>
              <a:spcAft>
                <a:spcPct val="21875"/>
              </a:spcAft>
            </a:pPr>
            <a:r>
              <a:rPr sz="1600" dirty="0">
                <a:solidFill>
                  <a:srgbClr val="FFFFFF"/>
                </a:solidFill>
                <a:latin typeface="+mn-lt"/>
                <a:ea typeface="+mn-ea"/>
                <a:cs typeface="+mn-lt"/>
              </a:rPr>
              <a:t>August 2026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98CBAF7-3854-B8E5-9678-1667BA411A99}"/>
              </a:ext>
            </a:extLst>
          </p:cNvPr>
          <p:cNvSpPr/>
          <p:nvPr/>
        </p:nvSpPr>
        <p:spPr>
          <a:xfrm>
            <a:off x="457200" y="69088"/>
            <a:ext cx="2209800" cy="391510"/>
          </a:xfrm>
          <a:prstGeom prst="rect">
            <a:avLst/>
          </a:prstGeom>
          <a:solidFill>
            <a:srgbClr val="0C1D17"/>
          </a:solidFill>
          <a:ln>
            <a:solidFill>
              <a:srgbClr val="0C1D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New picture"/>
          <p:cNvPicPr/>
          <p:nvPr>
            <p:custDataLst>
              <p:tags r:id="rId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0" y="0"/>
            <a:ext cx="4495800" cy="6858000"/>
          </a:xfrm>
          <a:prstGeom prst="rect">
            <a:avLst/>
          </a:prstGeom>
        </p:spPr>
      </p:pic>
      <p:sp>
        <p:nvSpPr>
          <p:cNvPr id="2" name="Title 1"/>
          <p:cNvSpPr txBox="1">
            <a:spLocks noGrp="1"/>
          </p:cNvSpPr>
          <p:nvPr>
            <p:ph type="title" idx="10"/>
            <p:custDataLst>
              <p:tags r:id="rId2"/>
            </p:custDataLst>
          </p:nvPr>
        </p:nvSpPr>
        <p:spPr>
          <a:xfrm>
            <a:off x="4648200" y="228601"/>
            <a:ext cx="7162800" cy="835157"/>
          </a:xfrm>
        </p:spPr>
        <p:txBody>
          <a:bodyPr lIns="0" rIns="0">
            <a:normAutofit/>
          </a:bodyPr>
          <a:lstStyle/>
          <a:p>
            <a:pPr marL="0" lvl="0" algn="l">
              <a:spcBef>
                <a:spcPct val="21875"/>
              </a:spcBef>
              <a:spcAft>
                <a:spcPct val="21875"/>
              </a:spcAft>
            </a:pPr>
            <a:r>
              <a:rPr lang="en-US" sz="1982">
                <a:latin typeface="+mj-lt"/>
                <a:ea typeface="+mj-ea"/>
                <a:cs typeface="+mj-lt"/>
              </a:rPr>
              <a:t>AtliQ Hardwares needs faster data-driven decisions to sustain its growth across global markets </a:t>
            </a:r>
          </a:p>
        </p:txBody>
      </p:sp>
      <p:sp>
        <p:nvSpPr>
          <p:cNvPr id="8" name="Rectangle 7"/>
          <p:cNvSpPr/>
          <p:nvPr>
            <p:custDataLst>
              <p:tags r:id="rId3"/>
            </p:custDataLst>
          </p:nvPr>
        </p:nvSpPr>
        <p:spPr>
          <a:xfrm>
            <a:off x="4648200" y="1524000"/>
            <a:ext cx="1371600" cy="7620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9pPr>
          </a:lstStyle>
          <a:p>
            <a:pPr marL="0">
              <a:spcBef>
                <a:spcPct val="21875"/>
              </a:spcBef>
              <a:spcAft>
                <a:spcPct val="21875"/>
              </a:spcAft>
            </a:pPr>
            <a:r>
              <a:rPr sz="1600" b="1">
                <a:solidFill>
                  <a:srgbClr val="000000"/>
                </a:solidFill>
                <a:latin typeface="+mn-lt"/>
                <a:ea typeface="+mn-ea"/>
                <a:cs typeface="+mn-lt"/>
              </a:rPr>
              <a:t>The Company </a:t>
            </a:r>
          </a:p>
        </p:txBody>
      </p:sp>
      <p:sp>
        <p:nvSpPr>
          <p:cNvPr id="9" name="Rectangle 8"/>
          <p:cNvSpPr/>
          <p:nvPr>
            <p:custDataLst>
              <p:tags r:id="rId4"/>
            </p:custDataLst>
          </p:nvPr>
        </p:nvSpPr>
        <p:spPr>
          <a:xfrm>
            <a:off x="6096000" y="1524000"/>
            <a:ext cx="5562600" cy="7620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9pPr>
          </a:lstStyle>
          <a:p>
            <a:pPr>
              <a:spcBef>
                <a:spcPct val="21875"/>
              </a:spcBef>
              <a:spcAft>
                <a:spcPct val="21875"/>
              </a:spcAft>
            </a:pPr>
            <a:r>
              <a:rPr sz="1550" dirty="0" err="1">
                <a:solidFill>
                  <a:srgbClr val="000000"/>
                </a:solidFill>
                <a:latin typeface="+mn-lt"/>
                <a:ea typeface="+mn-ea"/>
                <a:cs typeface="+mn-lt"/>
              </a:rPr>
              <a:t>AtliQ</a:t>
            </a:r>
            <a:r>
              <a:rPr sz="1550" dirty="0">
                <a:solidFill>
                  <a:srgbClr val="000000"/>
                </a:solidFill>
                <a:latin typeface="+mn-lt"/>
                <a:ea typeface="+mn-ea"/>
                <a:cs typeface="+mn-lt"/>
              </a:rPr>
              <a:t> </a:t>
            </a:r>
            <a:r>
              <a:rPr sz="1550" dirty="0" err="1">
                <a:solidFill>
                  <a:srgbClr val="000000"/>
                </a:solidFill>
                <a:latin typeface="+mn-lt"/>
                <a:ea typeface="+mn-ea"/>
                <a:cs typeface="+mn-lt"/>
              </a:rPr>
              <a:t>Hardwares</a:t>
            </a:r>
            <a:r>
              <a:rPr lang="en-IN" sz="1550" dirty="0">
                <a:solidFill>
                  <a:srgbClr val="000000"/>
                </a:solidFill>
                <a:latin typeface="+mn-lt"/>
                <a:ea typeface="+mn-ea"/>
                <a:cs typeface="+mn-lt"/>
              </a:rPr>
              <a:t> </a:t>
            </a:r>
            <a:r>
              <a:rPr lang="en-IN" sz="1600" dirty="0"/>
              <a:t>(fictitious corporation) </a:t>
            </a:r>
            <a:r>
              <a:rPr sz="1550" dirty="0">
                <a:solidFill>
                  <a:srgbClr val="000000"/>
                </a:solidFill>
                <a:latin typeface="+mn-lt"/>
                <a:ea typeface="+mn-ea"/>
                <a:cs typeface="+mn-lt"/>
              </a:rPr>
              <a:t> is one of India's leading computer hardware producers, with operations expanding across multiple international markets. </a:t>
            </a:r>
          </a:p>
        </p:txBody>
      </p:sp>
      <p:sp>
        <p:nvSpPr>
          <p:cNvPr id="10" name="Rectangle 9"/>
          <p:cNvSpPr/>
          <p:nvPr>
            <p:custDataLst>
              <p:tags r:id="rId5"/>
            </p:custDataLst>
          </p:nvPr>
        </p:nvSpPr>
        <p:spPr>
          <a:xfrm>
            <a:off x="4648200" y="2598158"/>
            <a:ext cx="1371600" cy="9144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9pPr>
          </a:lstStyle>
          <a:p>
            <a:pPr marL="0">
              <a:spcBef>
                <a:spcPct val="21875"/>
              </a:spcBef>
              <a:spcAft>
                <a:spcPct val="21875"/>
              </a:spcAft>
            </a:pPr>
            <a:r>
              <a:rPr sz="1600" b="1" dirty="0">
                <a:solidFill>
                  <a:srgbClr val="000000"/>
                </a:solidFill>
                <a:latin typeface="+mn-lt"/>
                <a:ea typeface="+mn-ea"/>
                <a:cs typeface="+mn-lt"/>
              </a:rPr>
              <a:t>The Challenge </a:t>
            </a:r>
          </a:p>
        </p:txBody>
      </p:sp>
      <p:sp>
        <p:nvSpPr>
          <p:cNvPr id="11" name="Rectangle 10"/>
          <p:cNvSpPr/>
          <p:nvPr>
            <p:custDataLst>
              <p:tags r:id="rId6"/>
            </p:custDataLst>
          </p:nvPr>
        </p:nvSpPr>
        <p:spPr>
          <a:xfrm>
            <a:off x="6096000" y="2548759"/>
            <a:ext cx="5562600" cy="9144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9pPr>
          </a:lstStyle>
          <a:p>
            <a:pPr>
              <a:spcBef>
                <a:spcPct val="21875"/>
              </a:spcBef>
              <a:spcAft>
                <a:spcPct val="21875"/>
              </a:spcAft>
            </a:pPr>
            <a:r>
              <a:rPr lang="en-IN" sz="1550" dirty="0" err="1">
                <a:solidFill>
                  <a:srgbClr val="000000"/>
                </a:solidFill>
                <a:ea typeface="+mn-ea"/>
                <a:cs typeface="+mn-lt"/>
              </a:rPr>
              <a:t>AtliQ</a:t>
            </a:r>
            <a:r>
              <a:rPr lang="en-IN" sz="1550" dirty="0">
                <a:solidFill>
                  <a:srgbClr val="000000"/>
                </a:solidFill>
                <a:ea typeface="+mn-ea"/>
                <a:cs typeface="+mn-lt"/>
              </a:rPr>
              <a:t> Hardware is facing challenges in making quick and data-driven business decisions due to limited actionable insights from its existing </a:t>
            </a:r>
            <a:r>
              <a:rPr lang="en-IN" sz="1550" dirty="0" err="1">
                <a:solidFill>
                  <a:srgbClr val="000000"/>
                </a:solidFill>
                <a:ea typeface="+mn-ea"/>
                <a:cs typeface="+mn-lt"/>
              </a:rPr>
              <a:t>data.The</a:t>
            </a:r>
            <a:r>
              <a:rPr lang="en-IN" sz="1550" dirty="0">
                <a:solidFill>
                  <a:srgbClr val="000000"/>
                </a:solidFill>
                <a:ea typeface="+mn-ea"/>
                <a:cs typeface="+mn-lt"/>
              </a:rPr>
              <a:t> SQL challenge is designed to assess candidates’ technical and analytical abilities, along with their understanding of real-world business problems.</a:t>
            </a:r>
          </a:p>
          <a:p>
            <a:pPr marL="0">
              <a:spcBef>
                <a:spcPct val="21875"/>
              </a:spcBef>
              <a:spcAft>
                <a:spcPct val="21875"/>
              </a:spcAft>
            </a:pPr>
            <a:endParaRPr sz="1550" dirty="0">
              <a:solidFill>
                <a:srgbClr val="000000"/>
              </a:solidFill>
              <a:latin typeface="+mn-lt"/>
              <a:ea typeface="+mn-ea"/>
              <a:cs typeface="+mn-lt"/>
            </a:endParaRPr>
          </a:p>
        </p:txBody>
      </p:sp>
      <p:sp>
        <p:nvSpPr>
          <p:cNvPr id="12" name="Rectangle 11"/>
          <p:cNvSpPr/>
          <p:nvPr>
            <p:custDataLst>
              <p:tags r:id="rId7"/>
            </p:custDataLst>
          </p:nvPr>
        </p:nvSpPr>
        <p:spPr>
          <a:xfrm>
            <a:off x="4648200" y="4006018"/>
            <a:ext cx="1371600" cy="10668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9pPr>
          </a:lstStyle>
          <a:p>
            <a:pPr marL="0">
              <a:spcBef>
                <a:spcPct val="21875"/>
              </a:spcBef>
              <a:spcAft>
                <a:spcPct val="21875"/>
              </a:spcAft>
            </a:pPr>
            <a:r>
              <a:rPr sz="1600" b="1" dirty="0">
                <a:solidFill>
                  <a:srgbClr val="000000"/>
                </a:solidFill>
                <a:latin typeface="+mn-lt"/>
                <a:ea typeface="+mn-ea"/>
                <a:cs typeface="+mn-lt"/>
              </a:rPr>
              <a:t>The Response </a:t>
            </a:r>
          </a:p>
        </p:txBody>
      </p:sp>
      <p:sp>
        <p:nvSpPr>
          <p:cNvPr id="13" name="Rectangle 12"/>
          <p:cNvSpPr/>
          <p:nvPr>
            <p:custDataLst>
              <p:tags r:id="rId8"/>
            </p:custDataLst>
          </p:nvPr>
        </p:nvSpPr>
        <p:spPr>
          <a:xfrm>
            <a:off x="6096000" y="4006018"/>
            <a:ext cx="5562600" cy="10668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9pPr>
          </a:lstStyle>
          <a:p>
            <a:pPr marL="0">
              <a:spcBef>
                <a:spcPct val="21875"/>
              </a:spcBef>
              <a:spcAft>
                <a:spcPct val="21875"/>
              </a:spcAft>
            </a:pPr>
            <a:r>
              <a:rPr sz="1550" dirty="0">
                <a:solidFill>
                  <a:srgbClr val="000000"/>
                </a:solidFill>
                <a:latin typeface="+mn-lt"/>
                <a:ea typeface="+mn-ea"/>
                <a:cs typeface="+mn-lt"/>
              </a:rPr>
              <a:t>The data analytics team is delivering answers to </a:t>
            </a:r>
            <a:r>
              <a:rPr sz="1550" b="1" dirty="0">
                <a:solidFill>
                  <a:srgbClr val="000000"/>
                </a:solidFill>
                <a:latin typeface="+mn-lt"/>
                <a:ea typeface="+mn-ea"/>
                <a:cs typeface="+mn-lt"/>
              </a:rPr>
              <a:t>10 ad-hoc business requests</a:t>
            </a:r>
            <a:r>
              <a:rPr sz="1550" dirty="0">
                <a:solidFill>
                  <a:srgbClr val="000000"/>
                </a:solidFill>
                <a:latin typeface="+mn-lt"/>
                <a:ea typeface="+mn-ea"/>
                <a:cs typeface="+mn-lt"/>
              </a:rPr>
              <a:t> from top-level management, spanning product portfolio analysis, customer behavior, sales trends, discount patterns, channel contribution, and cost structures. </a:t>
            </a:r>
          </a:p>
        </p:txBody>
      </p:sp>
      <p:sp>
        <p:nvSpPr>
          <p:cNvPr id="16" name="New shape"/>
          <p:cNvSpPr/>
          <p:nvPr>
            <p:custDataLst>
              <p:tags r:id="rId9"/>
            </p:custDataLst>
          </p:nvPr>
        </p:nvSpPr>
        <p:spPr>
          <a:xfrm>
            <a:off x="4648200" y="5364480"/>
            <a:ext cx="7010400" cy="990600"/>
          </a:xfrm>
          <a:custGeom>
            <a:avLst/>
            <a:gdLst/>
            <a:ahLst/>
            <a:cxnLst/>
            <a:rect l="l" t="t" r="r" b="b"/>
            <a:pathLst>
              <a:path w="7010400" h="990600">
                <a:moveTo>
                  <a:pt x="0" y="0"/>
                </a:moveTo>
                <a:lnTo>
                  <a:pt x="7010400" y="0"/>
                </a:lnTo>
                <a:lnTo>
                  <a:pt x="7010400" y="990600"/>
                </a:lnTo>
                <a:lnTo>
                  <a:pt x="0" y="990600"/>
                </a:lnTo>
                <a:close/>
              </a:path>
            </a:pathLst>
          </a:custGeom>
          <a:gradFill>
            <a:gsLst>
              <a:gs pos="0">
                <a:srgbClr val="084032"/>
              </a:gs>
              <a:gs pos="100000">
                <a:srgbClr val="000000"/>
              </a:gs>
            </a:gsLst>
            <a:lin ang="2700000"/>
          </a:gradFill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7" name="Rectangle 16"/>
          <p:cNvSpPr/>
          <p:nvPr>
            <p:custDataLst>
              <p:tags r:id="rId10"/>
            </p:custDataLst>
          </p:nvPr>
        </p:nvSpPr>
        <p:spPr>
          <a:xfrm>
            <a:off x="4876800" y="5364480"/>
            <a:ext cx="6553200" cy="9906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9pPr>
          </a:lstStyle>
          <a:p>
            <a:pPr marL="0">
              <a:spcBef>
                <a:spcPct val="21875"/>
              </a:spcBef>
              <a:spcAft>
                <a:spcPct val="21875"/>
              </a:spcAft>
            </a:pPr>
            <a:r>
              <a:rPr sz="1600">
                <a:solidFill>
                  <a:srgbClr val="FFFFFF"/>
                </a:solidFill>
                <a:latin typeface="+mn-lt"/>
                <a:ea typeface="+mn-ea"/>
                <a:cs typeface="+mn-lt"/>
              </a:rPr>
              <a:t>This analysis transforms raw transactional data into actionable intelligence that empowers AtliQ's leadership to make faster, smarter decisions.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10"/>
            <p:custDataLst>
              <p:tags r:id="rId1"/>
            </p:custDataLst>
          </p:nvPr>
        </p:nvSpPr>
        <p:spPr/>
        <p:txBody>
          <a:bodyPr lIns="0" rIns="0">
            <a:normAutofit/>
          </a:bodyPr>
          <a:lstStyle/>
          <a:p>
            <a:pPr lvl="0">
              <a:spcBef>
                <a:spcPct val="21875"/>
              </a:spcBef>
              <a:spcAft>
                <a:spcPct val="21875"/>
              </a:spcAft>
            </a:pPr>
            <a:r>
              <a:rPr lang="en-US" sz="2380" dirty="0">
                <a:latin typeface="+mj-lt"/>
                <a:ea typeface="+mj-ea"/>
                <a:cs typeface="+mj-lt"/>
              </a:rPr>
              <a:t>1. </a:t>
            </a:r>
            <a:r>
              <a:rPr lang="en-IN" sz="2380" dirty="0"/>
              <a:t>Provide the list of markets in which customer "Atliq Exclusive" operates its business in the APAC region.</a:t>
            </a:r>
            <a:endParaRPr lang="en-US" sz="2380" dirty="0">
              <a:latin typeface="+mj-lt"/>
              <a:ea typeface="+mj-ea"/>
              <a:cs typeface="+mj-lt"/>
            </a:endParaRPr>
          </a:p>
        </p:txBody>
      </p:sp>
      <p:sp>
        <p:nvSpPr>
          <p:cNvPr id="112" name="New shape"/>
          <p:cNvSpPr/>
          <p:nvPr>
            <p:custDataLst>
              <p:tags r:id="rId2"/>
            </p:custDataLst>
          </p:nvPr>
        </p:nvSpPr>
        <p:spPr>
          <a:xfrm>
            <a:off x="381000" y="5334000"/>
            <a:ext cx="11430000" cy="685800"/>
          </a:xfrm>
          <a:custGeom>
            <a:avLst/>
            <a:gdLst/>
            <a:ahLst/>
            <a:cxnLst/>
            <a:rect l="l" t="t" r="r" b="b"/>
            <a:pathLst>
              <a:path w="11430000" h="685800">
                <a:moveTo>
                  <a:pt x="0" y="0"/>
                </a:moveTo>
                <a:lnTo>
                  <a:pt x="11430000" y="0"/>
                </a:lnTo>
                <a:lnTo>
                  <a:pt x="11430000" y="685800"/>
                </a:lnTo>
                <a:lnTo>
                  <a:pt x="0" y="685800"/>
                </a:lnTo>
                <a:close/>
              </a:path>
            </a:pathLst>
          </a:custGeom>
          <a:gradFill>
            <a:gsLst>
              <a:gs pos="0">
                <a:srgbClr val="084032"/>
              </a:gs>
              <a:gs pos="100000">
                <a:srgbClr val="000000"/>
              </a:gs>
            </a:gsLst>
            <a:lin ang="2700000"/>
          </a:gradFill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9pPr>
          </a:lstStyle>
          <a:p>
            <a:pPr algn="ctr"/>
            <a:r>
              <a:rPr lang="en-US" sz="1600" dirty="0">
                <a:solidFill>
                  <a:schemeClr val="bg1"/>
                </a:solidFill>
              </a:rPr>
              <a:t>     </a:t>
            </a:r>
            <a:r>
              <a:rPr lang="en-US" sz="1600" dirty="0" err="1">
                <a:solidFill>
                  <a:schemeClr val="bg1"/>
                </a:solidFill>
              </a:rPr>
              <a:t>AtliQ</a:t>
            </a:r>
            <a:r>
              <a:rPr lang="en-US" sz="1600" dirty="0">
                <a:solidFill>
                  <a:schemeClr val="bg1"/>
                </a:solidFill>
              </a:rPr>
              <a:t> Exclusive has a strong presence in the APAC region, operating across 8 markets, accounting for half of its presence across the 16 listed markets.</a:t>
            </a:r>
            <a:endParaRPr sz="1600" dirty="0">
              <a:solidFill>
                <a:schemeClr val="bg1"/>
              </a:solidFill>
            </a:endParaRPr>
          </a:p>
        </p:txBody>
      </p:sp>
      <p:grpSp>
        <p:nvGrpSpPr>
          <p:cNvPr id="113" name="Group 112"/>
          <p:cNvGrpSpPr/>
          <p:nvPr>
            <p:custDataLst>
              <p:tags r:id="rId3"/>
            </p:custDataLst>
          </p:nvPr>
        </p:nvGrpSpPr>
        <p:grpSpPr>
          <a:xfrm>
            <a:off x="533400" y="5410200"/>
            <a:ext cx="329190" cy="365539"/>
            <a:chOff x="-75695" y="4858729"/>
            <a:chExt cx="329190" cy="365539"/>
          </a:xfrm>
        </p:grpSpPr>
        <p:sp>
          <p:nvSpPr>
            <p:cNvPr id="114" name="New shape"/>
            <p:cNvSpPr/>
            <p:nvPr>
              <p:custDataLst>
                <p:tags r:id="rId4"/>
              </p:custDataLst>
            </p:nvPr>
          </p:nvSpPr>
          <p:spPr>
            <a:xfrm>
              <a:off x="85621" y="4858729"/>
              <a:ext cx="5661" cy="55602"/>
            </a:xfrm>
            <a:custGeom>
              <a:avLst/>
              <a:gdLst/>
              <a:ahLst/>
              <a:cxnLst/>
              <a:rect l="l" t="t" r="r" b="b"/>
              <a:pathLst>
                <a:path w="5661" h="55601">
                  <a:moveTo>
                    <a:pt x="2331" y="0"/>
                  </a:moveTo>
                  <a:cubicBezTo>
                    <a:pt x="2957" y="208"/>
                    <a:pt x="3582" y="417"/>
                    <a:pt x="4227" y="631"/>
                  </a:cubicBezTo>
                  <a:cubicBezTo>
                    <a:pt x="5497" y="5674"/>
                    <a:pt x="5680" y="10507"/>
                    <a:pt x="5661" y="15688"/>
                  </a:cubicBezTo>
                  <a:cubicBezTo>
                    <a:pt x="5661" y="16522"/>
                    <a:pt x="5661" y="17356"/>
                    <a:pt x="5661" y="18190"/>
                  </a:cubicBezTo>
                  <a:cubicBezTo>
                    <a:pt x="5667" y="19928"/>
                    <a:pt x="5661" y="21665"/>
                    <a:pt x="5654" y="23409"/>
                  </a:cubicBezTo>
                  <a:cubicBezTo>
                    <a:pt x="5648" y="25393"/>
                    <a:pt x="5648" y="27377"/>
                    <a:pt x="5654" y="29361"/>
                  </a:cubicBezTo>
                  <a:cubicBezTo>
                    <a:pt x="5661" y="31093"/>
                    <a:pt x="5661" y="32817"/>
                    <a:pt x="5661" y="34549"/>
                  </a:cubicBezTo>
                  <a:cubicBezTo>
                    <a:pt x="5661" y="35572"/>
                    <a:pt x="5661" y="36590"/>
                    <a:pt x="5661" y="37613"/>
                  </a:cubicBezTo>
                  <a:cubicBezTo>
                    <a:pt x="5705" y="51861"/>
                    <a:pt x="5705" y="51861"/>
                    <a:pt x="3595" y="55602"/>
                  </a:cubicBezTo>
                  <a:cubicBezTo>
                    <a:pt x="3178" y="55602"/>
                    <a:pt x="2761" y="55602"/>
                    <a:pt x="2331" y="55602"/>
                  </a:cubicBezTo>
                  <a:cubicBezTo>
                    <a:pt x="2129" y="54692"/>
                    <a:pt x="1933" y="53788"/>
                    <a:pt x="1737" y="52878"/>
                  </a:cubicBezTo>
                  <a:cubicBezTo>
                    <a:pt x="1687" y="52632"/>
                    <a:pt x="1630" y="52392"/>
                    <a:pt x="1573" y="52139"/>
                  </a:cubicBezTo>
                  <a:cubicBezTo>
                    <a:pt x="195" y="45568"/>
                    <a:pt x="233" y="38712"/>
                    <a:pt x="44" y="32027"/>
                  </a:cubicBezTo>
                  <a:cubicBezTo>
                    <a:pt x="31" y="31794"/>
                    <a:pt x="25" y="31560"/>
                    <a:pt x="18" y="31313"/>
                  </a:cubicBezTo>
                  <a:cubicBezTo>
                    <a:pt x="-164" y="25191"/>
                    <a:pt x="-271" y="19081"/>
                    <a:pt x="0" y="12952"/>
                  </a:cubicBezTo>
                  <a:cubicBezTo>
                    <a:pt x="12" y="12687"/>
                    <a:pt x="25" y="12415"/>
                    <a:pt x="31" y="12137"/>
                  </a:cubicBezTo>
                  <a:cubicBezTo>
                    <a:pt x="157" y="9199"/>
                    <a:pt x="492" y="6350"/>
                    <a:pt x="1055" y="3456"/>
                  </a:cubicBezTo>
                  <a:cubicBezTo>
                    <a:pt x="1105" y="3184"/>
                    <a:pt x="1162" y="2906"/>
                    <a:pt x="1219" y="2628"/>
                  </a:cubicBezTo>
                  <a:cubicBezTo>
                    <a:pt x="1617" y="713"/>
                    <a:pt x="1617" y="713"/>
                    <a:pt x="2331" y="0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15" name="New shape"/>
            <p:cNvSpPr/>
            <p:nvPr>
              <p:custDataLst>
                <p:tags r:id="rId5"/>
              </p:custDataLst>
            </p:nvPr>
          </p:nvSpPr>
          <p:spPr>
            <a:xfrm>
              <a:off x="-29020" y="4906749"/>
              <a:ext cx="39370" cy="40438"/>
            </a:xfrm>
            <a:custGeom>
              <a:avLst/>
              <a:gdLst/>
              <a:ahLst/>
              <a:cxnLst/>
              <a:rect l="l" t="t" r="r" b="b"/>
              <a:pathLst>
                <a:path w="39369" h="40437">
                  <a:moveTo>
                    <a:pt x="82" y="0"/>
                  </a:moveTo>
                  <a:cubicBezTo>
                    <a:pt x="3222" y="126"/>
                    <a:pt x="5098" y="1939"/>
                    <a:pt x="7316" y="3923"/>
                  </a:cubicBezTo>
                  <a:cubicBezTo>
                    <a:pt x="7702" y="4264"/>
                    <a:pt x="8093" y="4606"/>
                    <a:pt x="8479" y="4947"/>
                  </a:cubicBezTo>
                  <a:cubicBezTo>
                    <a:pt x="12371" y="8384"/>
                    <a:pt x="16074" y="12011"/>
                    <a:pt x="19732" y="15694"/>
                  </a:cubicBezTo>
                  <a:cubicBezTo>
                    <a:pt x="20635" y="16604"/>
                    <a:pt x="21552" y="17514"/>
                    <a:pt x="22468" y="18424"/>
                  </a:cubicBezTo>
                  <a:cubicBezTo>
                    <a:pt x="38858" y="34707"/>
                    <a:pt x="38858" y="34707"/>
                    <a:pt x="39369" y="39666"/>
                  </a:cubicBezTo>
                  <a:cubicBezTo>
                    <a:pt x="39332" y="39919"/>
                    <a:pt x="39294" y="40178"/>
                    <a:pt x="39256" y="40437"/>
                  </a:cubicBezTo>
                  <a:cubicBezTo>
                    <a:pt x="36760" y="39616"/>
                    <a:pt x="34934" y="38415"/>
                    <a:pt x="32937" y="36722"/>
                  </a:cubicBezTo>
                  <a:cubicBezTo>
                    <a:pt x="32634" y="36469"/>
                    <a:pt x="32331" y="36217"/>
                    <a:pt x="32021" y="35957"/>
                  </a:cubicBezTo>
                  <a:cubicBezTo>
                    <a:pt x="31054" y="35142"/>
                    <a:pt x="30100" y="34315"/>
                    <a:pt x="29146" y="33487"/>
                  </a:cubicBezTo>
                  <a:cubicBezTo>
                    <a:pt x="28856" y="33234"/>
                    <a:pt x="28565" y="32982"/>
                    <a:pt x="28268" y="32723"/>
                  </a:cubicBezTo>
                  <a:cubicBezTo>
                    <a:pt x="23409" y="28445"/>
                    <a:pt x="18809" y="23877"/>
                    <a:pt x="14203" y="19321"/>
                  </a:cubicBezTo>
                  <a:cubicBezTo>
                    <a:pt x="13540" y="18664"/>
                    <a:pt x="12876" y="18013"/>
                    <a:pt x="12207" y="17362"/>
                  </a:cubicBezTo>
                  <a:cubicBezTo>
                    <a:pt x="8744" y="13970"/>
                    <a:pt x="5433" y="10513"/>
                    <a:pt x="2464" y="6672"/>
                  </a:cubicBezTo>
                  <a:cubicBezTo>
                    <a:pt x="2217" y="6368"/>
                    <a:pt x="1977" y="6059"/>
                    <a:pt x="1724" y="5749"/>
                  </a:cubicBezTo>
                  <a:cubicBezTo>
                    <a:pt x="416" y="3986"/>
                    <a:pt x="-183" y="2786"/>
                    <a:pt x="0" y="568"/>
                  </a:cubicBezTo>
                  <a:cubicBezTo>
                    <a:pt x="25" y="379"/>
                    <a:pt x="50" y="195"/>
                    <a:pt x="82" y="0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16" name="New shape"/>
            <p:cNvSpPr/>
            <p:nvPr>
              <p:custDataLst>
                <p:tags r:id="rId6"/>
              </p:custDataLst>
            </p:nvPr>
          </p:nvSpPr>
          <p:spPr>
            <a:xfrm>
              <a:off x="166302" y="4906947"/>
              <a:ext cx="39806" cy="39610"/>
            </a:xfrm>
            <a:custGeom>
              <a:avLst/>
              <a:gdLst/>
              <a:ahLst/>
              <a:cxnLst/>
              <a:rect l="l" t="t" r="r" b="b"/>
              <a:pathLst>
                <a:path w="39805" h="39610">
                  <a:moveTo>
                    <a:pt x="39054" y="0"/>
                  </a:moveTo>
                  <a:cubicBezTo>
                    <a:pt x="39180" y="69"/>
                    <a:pt x="39180" y="69"/>
                    <a:pt x="39805" y="436"/>
                  </a:cubicBezTo>
                  <a:cubicBezTo>
                    <a:pt x="39508" y="2805"/>
                    <a:pt x="38877" y="4328"/>
                    <a:pt x="37354" y="6160"/>
                  </a:cubicBezTo>
                  <a:cubicBezTo>
                    <a:pt x="37158" y="6400"/>
                    <a:pt x="36962" y="6640"/>
                    <a:pt x="36766" y="6893"/>
                  </a:cubicBezTo>
                  <a:cubicBezTo>
                    <a:pt x="32173" y="12485"/>
                    <a:pt x="27093" y="17628"/>
                    <a:pt x="21994" y="22746"/>
                  </a:cubicBezTo>
                  <a:cubicBezTo>
                    <a:pt x="21754" y="22986"/>
                    <a:pt x="21514" y="23226"/>
                    <a:pt x="21274" y="23472"/>
                  </a:cubicBezTo>
                  <a:cubicBezTo>
                    <a:pt x="18266" y="26499"/>
                    <a:pt x="15183" y="29393"/>
                    <a:pt x="11941" y="32167"/>
                  </a:cubicBezTo>
                  <a:cubicBezTo>
                    <a:pt x="11234" y="32780"/>
                    <a:pt x="10532" y="33399"/>
                    <a:pt x="9831" y="34024"/>
                  </a:cubicBezTo>
                  <a:cubicBezTo>
                    <a:pt x="9060" y="34707"/>
                    <a:pt x="8283" y="35383"/>
                    <a:pt x="7499" y="36052"/>
                  </a:cubicBezTo>
                  <a:cubicBezTo>
                    <a:pt x="7196" y="36331"/>
                    <a:pt x="6887" y="36609"/>
                    <a:pt x="6571" y="36893"/>
                  </a:cubicBezTo>
                  <a:cubicBezTo>
                    <a:pt x="4460" y="38700"/>
                    <a:pt x="2792" y="39465"/>
                    <a:pt x="0" y="39610"/>
                  </a:cubicBezTo>
                  <a:cubicBezTo>
                    <a:pt x="1358" y="36533"/>
                    <a:pt x="3121" y="34043"/>
                    <a:pt x="5212" y="31434"/>
                  </a:cubicBezTo>
                  <a:cubicBezTo>
                    <a:pt x="5364" y="31238"/>
                    <a:pt x="5522" y="31042"/>
                    <a:pt x="5680" y="30846"/>
                  </a:cubicBezTo>
                  <a:cubicBezTo>
                    <a:pt x="7733" y="28256"/>
                    <a:pt x="9850" y="25817"/>
                    <a:pt x="12251" y="23536"/>
                  </a:cubicBezTo>
                  <a:cubicBezTo>
                    <a:pt x="13394" y="22449"/>
                    <a:pt x="14412" y="21261"/>
                    <a:pt x="15435" y="20061"/>
                  </a:cubicBezTo>
                  <a:cubicBezTo>
                    <a:pt x="18620" y="16364"/>
                    <a:pt x="22063" y="12959"/>
                    <a:pt x="25766" y="9781"/>
                  </a:cubicBezTo>
                  <a:cubicBezTo>
                    <a:pt x="27049" y="8681"/>
                    <a:pt x="28306" y="7550"/>
                    <a:pt x="29551" y="6400"/>
                  </a:cubicBezTo>
                  <a:cubicBezTo>
                    <a:pt x="29854" y="6122"/>
                    <a:pt x="30164" y="5838"/>
                    <a:pt x="30473" y="5547"/>
                  </a:cubicBezTo>
                  <a:cubicBezTo>
                    <a:pt x="31073" y="4998"/>
                    <a:pt x="31667" y="4441"/>
                    <a:pt x="32255" y="3885"/>
                  </a:cubicBezTo>
                  <a:cubicBezTo>
                    <a:pt x="36874" y="-379"/>
                    <a:pt x="36874" y="-379"/>
                    <a:pt x="39054" y="0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17" name="New shape"/>
            <p:cNvSpPr/>
            <p:nvPr>
              <p:custDataLst>
                <p:tags r:id="rId7"/>
              </p:custDataLst>
            </p:nvPr>
          </p:nvSpPr>
          <p:spPr>
            <a:xfrm>
              <a:off x="-956" y="4929470"/>
              <a:ext cx="181863" cy="294798"/>
            </a:xfrm>
            <a:custGeom>
              <a:avLst/>
              <a:gdLst/>
              <a:ahLst/>
              <a:cxnLst/>
              <a:rect l="l" t="t" r="r" b="b"/>
              <a:pathLst>
                <a:path w="181862" h="294797">
                  <a:moveTo>
                    <a:pt x="83832" y="0"/>
                  </a:moveTo>
                  <a:cubicBezTo>
                    <a:pt x="109870" y="-1035"/>
                    <a:pt x="133994" y="7594"/>
                    <a:pt x="153240" y="25261"/>
                  </a:cubicBezTo>
                  <a:cubicBezTo>
                    <a:pt x="169605" y="40507"/>
                    <a:pt x="180270" y="63139"/>
                    <a:pt x="181287" y="85532"/>
                  </a:cubicBezTo>
                  <a:cubicBezTo>
                    <a:pt x="181350" y="87573"/>
                    <a:pt x="181313" y="89607"/>
                    <a:pt x="181155" y="91642"/>
                  </a:cubicBezTo>
                  <a:cubicBezTo>
                    <a:pt x="180946" y="91642"/>
                    <a:pt x="180738" y="91642"/>
                    <a:pt x="180523" y="91642"/>
                  </a:cubicBezTo>
                  <a:cubicBezTo>
                    <a:pt x="180497" y="91332"/>
                    <a:pt x="180472" y="91023"/>
                    <a:pt x="180447" y="90700"/>
                  </a:cubicBezTo>
                  <a:cubicBezTo>
                    <a:pt x="178608" y="68485"/>
                    <a:pt x="170205" y="49883"/>
                    <a:pt x="154775" y="33708"/>
                  </a:cubicBezTo>
                  <a:cubicBezTo>
                    <a:pt x="154099" y="32994"/>
                    <a:pt x="153436" y="32274"/>
                    <a:pt x="152779" y="31548"/>
                  </a:cubicBezTo>
                  <a:cubicBezTo>
                    <a:pt x="142416" y="20326"/>
                    <a:pt x="128067" y="13470"/>
                    <a:pt x="113548" y="9502"/>
                  </a:cubicBezTo>
                  <a:cubicBezTo>
                    <a:pt x="113289" y="9433"/>
                    <a:pt x="113036" y="9357"/>
                    <a:pt x="112764" y="9288"/>
                  </a:cubicBezTo>
                  <a:cubicBezTo>
                    <a:pt x="98459" y="5345"/>
                    <a:pt x="81678" y="5396"/>
                    <a:pt x="67423" y="9502"/>
                  </a:cubicBezTo>
                  <a:cubicBezTo>
                    <a:pt x="67183" y="9572"/>
                    <a:pt x="66943" y="9635"/>
                    <a:pt x="66697" y="9705"/>
                  </a:cubicBezTo>
                  <a:cubicBezTo>
                    <a:pt x="52329" y="13736"/>
                    <a:pt x="40551" y="21040"/>
                    <a:pt x="29513" y="30985"/>
                  </a:cubicBezTo>
                  <a:cubicBezTo>
                    <a:pt x="29279" y="31194"/>
                    <a:pt x="29039" y="31408"/>
                    <a:pt x="28799" y="31623"/>
                  </a:cubicBezTo>
                  <a:cubicBezTo>
                    <a:pt x="16604" y="42579"/>
                    <a:pt x="7999" y="59974"/>
                    <a:pt x="4871" y="75846"/>
                  </a:cubicBezTo>
                  <a:cubicBezTo>
                    <a:pt x="4801" y="76200"/>
                    <a:pt x="4732" y="76553"/>
                    <a:pt x="4656" y="76920"/>
                  </a:cubicBezTo>
                  <a:cubicBezTo>
                    <a:pt x="353" y="99179"/>
                    <a:pt x="5686" y="123360"/>
                    <a:pt x="18140" y="142189"/>
                  </a:cubicBezTo>
                  <a:cubicBezTo>
                    <a:pt x="21046" y="146460"/>
                    <a:pt x="24357" y="150352"/>
                    <a:pt x="27895" y="154118"/>
                  </a:cubicBezTo>
                  <a:cubicBezTo>
                    <a:pt x="38163" y="165043"/>
                    <a:pt x="45353" y="177793"/>
                    <a:pt x="48032" y="192623"/>
                  </a:cubicBezTo>
                  <a:cubicBezTo>
                    <a:pt x="48064" y="192806"/>
                    <a:pt x="48064" y="192806"/>
                    <a:pt x="48234" y="193747"/>
                  </a:cubicBezTo>
                  <a:cubicBezTo>
                    <a:pt x="48569" y="195598"/>
                    <a:pt x="48879" y="197450"/>
                    <a:pt x="49157" y="199314"/>
                  </a:cubicBezTo>
                  <a:cubicBezTo>
                    <a:pt x="49270" y="199996"/>
                    <a:pt x="49384" y="200678"/>
                    <a:pt x="49498" y="201361"/>
                  </a:cubicBezTo>
                  <a:cubicBezTo>
                    <a:pt x="49542" y="201677"/>
                    <a:pt x="49580" y="201986"/>
                    <a:pt x="49624" y="202315"/>
                  </a:cubicBezTo>
                  <a:cubicBezTo>
                    <a:pt x="49839" y="203572"/>
                    <a:pt x="50067" y="204432"/>
                    <a:pt x="50970" y="205367"/>
                  </a:cubicBezTo>
                  <a:cubicBezTo>
                    <a:pt x="53175" y="206896"/>
                    <a:pt x="55374" y="206883"/>
                    <a:pt x="57977" y="206820"/>
                  </a:cubicBezTo>
                  <a:cubicBezTo>
                    <a:pt x="58394" y="206820"/>
                    <a:pt x="58811" y="206814"/>
                    <a:pt x="59241" y="206814"/>
                  </a:cubicBezTo>
                  <a:cubicBezTo>
                    <a:pt x="60340" y="206807"/>
                    <a:pt x="61433" y="206788"/>
                    <a:pt x="62526" y="206769"/>
                  </a:cubicBezTo>
                  <a:cubicBezTo>
                    <a:pt x="63651" y="206750"/>
                    <a:pt x="64776" y="206738"/>
                    <a:pt x="65894" y="206731"/>
                  </a:cubicBezTo>
                  <a:cubicBezTo>
                    <a:pt x="68093" y="206706"/>
                    <a:pt x="70285" y="206675"/>
                    <a:pt x="72478" y="206637"/>
                  </a:cubicBezTo>
                  <a:cubicBezTo>
                    <a:pt x="72446" y="206447"/>
                    <a:pt x="72408" y="206251"/>
                    <a:pt x="72377" y="206056"/>
                  </a:cubicBezTo>
                  <a:cubicBezTo>
                    <a:pt x="71593" y="201658"/>
                    <a:pt x="70974" y="197286"/>
                    <a:pt x="70595" y="192844"/>
                  </a:cubicBezTo>
                  <a:cubicBezTo>
                    <a:pt x="70507" y="191865"/>
                    <a:pt x="70424" y="190885"/>
                    <a:pt x="70330" y="189912"/>
                  </a:cubicBezTo>
                  <a:cubicBezTo>
                    <a:pt x="70203" y="188509"/>
                    <a:pt x="70077" y="187107"/>
                    <a:pt x="69951" y="185710"/>
                  </a:cubicBezTo>
                  <a:cubicBezTo>
                    <a:pt x="67505" y="158611"/>
                    <a:pt x="63234" y="132042"/>
                    <a:pt x="55418" y="97960"/>
                  </a:cubicBezTo>
                  <a:cubicBezTo>
                    <a:pt x="56922" y="97809"/>
                    <a:pt x="57863" y="97752"/>
                    <a:pt x="59077" y="98706"/>
                  </a:cubicBezTo>
                  <a:cubicBezTo>
                    <a:pt x="59468" y="99053"/>
                    <a:pt x="59860" y="99414"/>
                    <a:pt x="60239" y="99780"/>
                  </a:cubicBezTo>
                  <a:cubicBezTo>
                    <a:pt x="60448" y="99969"/>
                    <a:pt x="60663" y="100165"/>
                    <a:pt x="60877" y="100361"/>
                  </a:cubicBezTo>
                  <a:cubicBezTo>
                    <a:pt x="63550" y="102832"/>
                    <a:pt x="66103" y="105429"/>
                    <a:pt x="68655" y="108025"/>
                  </a:cubicBezTo>
                  <a:cubicBezTo>
                    <a:pt x="69502" y="108885"/>
                    <a:pt x="70361" y="109744"/>
                    <a:pt x="71214" y="110597"/>
                  </a:cubicBezTo>
                  <a:cubicBezTo>
                    <a:pt x="71277" y="110332"/>
                    <a:pt x="71341" y="110073"/>
                    <a:pt x="71410" y="109801"/>
                  </a:cubicBezTo>
                  <a:cubicBezTo>
                    <a:pt x="72541" y="105119"/>
                    <a:pt x="73697" y="100443"/>
                    <a:pt x="75087" y="95831"/>
                  </a:cubicBezTo>
                  <a:cubicBezTo>
                    <a:pt x="75189" y="95483"/>
                    <a:pt x="75290" y="95142"/>
                    <a:pt x="75391" y="94794"/>
                  </a:cubicBezTo>
                  <a:cubicBezTo>
                    <a:pt x="75441" y="94637"/>
                    <a:pt x="75441" y="94637"/>
                    <a:pt x="75681" y="93841"/>
                  </a:cubicBezTo>
                  <a:cubicBezTo>
                    <a:pt x="75770" y="93562"/>
                    <a:pt x="75852" y="93291"/>
                    <a:pt x="75934" y="93013"/>
                  </a:cubicBezTo>
                  <a:cubicBezTo>
                    <a:pt x="76345" y="92116"/>
                    <a:pt x="76762" y="91616"/>
                    <a:pt x="77533" y="91010"/>
                  </a:cubicBezTo>
                  <a:cubicBezTo>
                    <a:pt x="78746" y="90757"/>
                    <a:pt x="79630" y="91035"/>
                    <a:pt x="80692" y="91642"/>
                  </a:cubicBezTo>
                  <a:cubicBezTo>
                    <a:pt x="81873" y="93089"/>
                    <a:pt x="82688" y="94687"/>
                    <a:pt x="83535" y="96343"/>
                  </a:cubicBezTo>
                  <a:cubicBezTo>
                    <a:pt x="83769" y="96772"/>
                    <a:pt x="84003" y="97202"/>
                    <a:pt x="84237" y="97632"/>
                  </a:cubicBezTo>
                  <a:cubicBezTo>
                    <a:pt x="86088" y="101069"/>
                    <a:pt x="87806" y="104576"/>
                    <a:pt x="89538" y="108070"/>
                  </a:cubicBezTo>
                  <a:cubicBezTo>
                    <a:pt x="89632" y="107905"/>
                    <a:pt x="89721" y="107735"/>
                    <a:pt x="89809" y="107564"/>
                  </a:cubicBezTo>
                  <a:cubicBezTo>
                    <a:pt x="90751" y="105808"/>
                    <a:pt x="91692" y="104057"/>
                    <a:pt x="92640" y="102307"/>
                  </a:cubicBezTo>
                  <a:cubicBezTo>
                    <a:pt x="92994" y="101650"/>
                    <a:pt x="93341" y="100999"/>
                    <a:pt x="93689" y="100348"/>
                  </a:cubicBezTo>
                  <a:cubicBezTo>
                    <a:pt x="94194" y="99401"/>
                    <a:pt x="94706" y="98459"/>
                    <a:pt x="95218" y="97518"/>
                  </a:cubicBezTo>
                  <a:cubicBezTo>
                    <a:pt x="95370" y="97233"/>
                    <a:pt x="95521" y="96943"/>
                    <a:pt x="95679" y="96646"/>
                  </a:cubicBezTo>
                  <a:cubicBezTo>
                    <a:pt x="96804" y="94586"/>
                    <a:pt x="98131" y="92798"/>
                    <a:pt x="99647" y="91010"/>
                  </a:cubicBezTo>
                  <a:cubicBezTo>
                    <a:pt x="101776" y="91231"/>
                    <a:pt x="101776" y="91231"/>
                    <a:pt x="102655" y="92135"/>
                  </a:cubicBezTo>
                  <a:cubicBezTo>
                    <a:pt x="104342" y="94807"/>
                    <a:pt x="105037" y="97821"/>
                    <a:pt x="105833" y="100841"/>
                  </a:cubicBezTo>
                  <a:cubicBezTo>
                    <a:pt x="106086" y="101796"/>
                    <a:pt x="106345" y="102743"/>
                    <a:pt x="106610" y="103691"/>
                  </a:cubicBezTo>
                  <a:cubicBezTo>
                    <a:pt x="106774" y="104304"/>
                    <a:pt x="106939" y="104917"/>
                    <a:pt x="107103" y="105523"/>
                  </a:cubicBezTo>
                  <a:cubicBezTo>
                    <a:pt x="107141" y="105669"/>
                    <a:pt x="107141" y="105669"/>
                    <a:pt x="107337" y="106376"/>
                  </a:cubicBezTo>
                  <a:cubicBezTo>
                    <a:pt x="107766" y="108044"/>
                    <a:pt x="107943" y="109504"/>
                    <a:pt x="107861" y="111229"/>
                  </a:cubicBezTo>
                  <a:cubicBezTo>
                    <a:pt x="110471" y="109061"/>
                    <a:pt x="112947" y="106882"/>
                    <a:pt x="115127" y="104278"/>
                  </a:cubicBezTo>
                  <a:cubicBezTo>
                    <a:pt x="117313" y="101675"/>
                    <a:pt x="119784" y="99495"/>
                    <a:pt x="122393" y="97328"/>
                  </a:cubicBezTo>
                  <a:cubicBezTo>
                    <a:pt x="122810" y="97537"/>
                    <a:pt x="123227" y="97745"/>
                    <a:pt x="123657" y="97960"/>
                  </a:cubicBezTo>
                  <a:cubicBezTo>
                    <a:pt x="123594" y="98245"/>
                    <a:pt x="123531" y="98523"/>
                    <a:pt x="123468" y="98813"/>
                  </a:cubicBezTo>
                  <a:cubicBezTo>
                    <a:pt x="117219" y="126462"/>
                    <a:pt x="112733" y="154182"/>
                    <a:pt x="108777" y="195441"/>
                  </a:cubicBezTo>
                  <a:cubicBezTo>
                    <a:pt x="108720" y="196091"/>
                    <a:pt x="108670" y="196736"/>
                    <a:pt x="108613" y="197387"/>
                  </a:cubicBezTo>
                  <a:cubicBezTo>
                    <a:pt x="108499" y="198613"/>
                    <a:pt x="108398" y="199845"/>
                    <a:pt x="108297" y="201070"/>
                  </a:cubicBezTo>
                  <a:cubicBezTo>
                    <a:pt x="108246" y="201626"/>
                    <a:pt x="108202" y="202176"/>
                    <a:pt x="108152" y="202726"/>
                  </a:cubicBezTo>
                  <a:cubicBezTo>
                    <a:pt x="108139" y="202852"/>
                    <a:pt x="108139" y="202852"/>
                    <a:pt x="108088" y="203490"/>
                  </a:cubicBezTo>
                  <a:cubicBezTo>
                    <a:pt x="107987" y="204659"/>
                    <a:pt x="107874" y="205632"/>
                    <a:pt x="107229" y="206637"/>
                  </a:cubicBezTo>
                  <a:cubicBezTo>
                    <a:pt x="109832" y="206630"/>
                    <a:pt x="112436" y="206599"/>
                    <a:pt x="115045" y="206555"/>
                  </a:cubicBezTo>
                  <a:cubicBezTo>
                    <a:pt x="116252" y="206530"/>
                    <a:pt x="117459" y="206517"/>
                    <a:pt x="118672" y="206511"/>
                  </a:cubicBezTo>
                  <a:cubicBezTo>
                    <a:pt x="119834" y="206511"/>
                    <a:pt x="121003" y="206492"/>
                    <a:pt x="122172" y="206466"/>
                  </a:cubicBezTo>
                  <a:cubicBezTo>
                    <a:pt x="122615" y="206454"/>
                    <a:pt x="123063" y="206454"/>
                    <a:pt x="123505" y="206454"/>
                  </a:cubicBezTo>
                  <a:cubicBezTo>
                    <a:pt x="126930" y="206473"/>
                    <a:pt x="126930" y="206473"/>
                    <a:pt x="128130" y="205398"/>
                  </a:cubicBezTo>
                  <a:cubicBezTo>
                    <a:pt x="129350" y="203534"/>
                    <a:pt x="129761" y="201468"/>
                    <a:pt x="130089" y="199301"/>
                  </a:cubicBezTo>
                  <a:cubicBezTo>
                    <a:pt x="130209" y="198613"/>
                    <a:pt x="130323" y="197924"/>
                    <a:pt x="130443" y="197241"/>
                  </a:cubicBezTo>
                  <a:cubicBezTo>
                    <a:pt x="130500" y="196887"/>
                    <a:pt x="130563" y="196527"/>
                    <a:pt x="130620" y="196167"/>
                  </a:cubicBezTo>
                  <a:cubicBezTo>
                    <a:pt x="133394" y="179752"/>
                    <a:pt x="140053" y="167431"/>
                    <a:pt x="151287" y="155243"/>
                  </a:cubicBezTo>
                  <a:cubicBezTo>
                    <a:pt x="152039" y="154421"/>
                    <a:pt x="152791" y="153606"/>
                    <a:pt x="153543" y="152785"/>
                  </a:cubicBezTo>
                  <a:cubicBezTo>
                    <a:pt x="153834" y="152463"/>
                    <a:pt x="154131" y="152147"/>
                    <a:pt x="154421" y="151825"/>
                  </a:cubicBezTo>
                  <a:cubicBezTo>
                    <a:pt x="162446" y="143080"/>
                    <a:pt x="168777" y="133097"/>
                    <a:pt x="172941" y="121970"/>
                  </a:cubicBezTo>
                  <a:cubicBezTo>
                    <a:pt x="173029" y="121749"/>
                    <a:pt x="173111" y="121534"/>
                    <a:pt x="173193" y="121307"/>
                  </a:cubicBezTo>
                  <a:cubicBezTo>
                    <a:pt x="175651" y="114818"/>
                    <a:pt x="177345" y="108322"/>
                    <a:pt x="178583" y="101498"/>
                  </a:cubicBezTo>
                  <a:cubicBezTo>
                    <a:pt x="178627" y="101258"/>
                    <a:pt x="178671" y="101012"/>
                    <a:pt x="178716" y="100759"/>
                  </a:cubicBezTo>
                  <a:cubicBezTo>
                    <a:pt x="178760" y="100519"/>
                    <a:pt x="178804" y="100279"/>
                    <a:pt x="178848" y="100033"/>
                  </a:cubicBezTo>
                  <a:cubicBezTo>
                    <a:pt x="179265" y="97821"/>
                    <a:pt x="179853" y="95686"/>
                    <a:pt x="180523" y="93537"/>
                  </a:cubicBezTo>
                  <a:cubicBezTo>
                    <a:pt x="181685" y="95016"/>
                    <a:pt x="181944" y="95869"/>
                    <a:pt x="181862" y="97802"/>
                  </a:cubicBezTo>
                  <a:cubicBezTo>
                    <a:pt x="181856" y="98030"/>
                    <a:pt x="181843" y="98257"/>
                    <a:pt x="181837" y="98497"/>
                  </a:cubicBezTo>
                  <a:cubicBezTo>
                    <a:pt x="181805" y="99249"/>
                    <a:pt x="181755" y="100007"/>
                    <a:pt x="181711" y="100765"/>
                  </a:cubicBezTo>
                  <a:cubicBezTo>
                    <a:pt x="181704" y="100898"/>
                    <a:pt x="181704" y="100898"/>
                    <a:pt x="181666" y="101562"/>
                  </a:cubicBezTo>
                  <a:cubicBezTo>
                    <a:pt x="180384" y="122570"/>
                    <a:pt x="171759" y="142252"/>
                    <a:pt x="157423" y="157587"/>
                  </a:cubicBezTo>
                  <a:cubicBezTo>
                    <a:pt x="146372" y="169434"/>
                    <a:pt x="140047" y="181565"/>
                    <a:pt x="136787" y="197349"/>
                  </a:cubicBezTo>
                  <a:cubicBezTo>
                    <a:pt x="136338" y="199528"/>
                    <a:pt x="135826" y="201683"/>
                    <a:pt x="135232" y="203831"/>
                  </a:cubicBezTo>
                  <a:cubicBezTo>
                    <a:pt x="135163" y="204084"/>
                    <a:pt x="135093" y="204337"/>
                    <a:pt x="135024" y="204596"/>
                  </a:cubicBezTo>
                  <a:cubicBezTo>
                    <a:pt x="134525" y="206384"/>
                    <a:pt x="133849" y="208084"/>
                    <a:pt x="133135" y="209796"/>
                  </a:cubicBezTo>
                  <a:cubicBezTo>
                    <a:pt x="133305" y="209967"/>
                    <a:pt x="133470" y="210137"/>
                    <a:pt x="133646" y="210308"/>
                  </a:cubicBezTo>
                  <a:cubicBezTo>
                    <a:pt x="137911" y="215046"/>
                    <a:pt x="137134" y="221700"/>
                    <a:pt x="137141" y="227671"/>
                  </a:cubicBezTo>
                  <a:cubicBezTo>
                    <a:pt x="137141" y="228423"/>
                    <a:pt x="137141" y="229175"/>
                    <a:pt x="137147" y="229927"/>
                  </a:cubicBezTo>
                  <a:cubicBezTo>
                    <a:pt x="137159" y="232555"/>
                    <a:pt x="137166" y="235190"/>
                    <a:pt x="137159" y="237818"/>
                  </a:cubicBezTo>
                  <a:cubicBezTo>
                    <a:pt x="137159" y="240257"/>
                    <a:pt x="137172" y="242696"/>
                    <a:pt x="137197" y="245135"/>
                  </a:cubicBezTo>
                  <a:cubicBezTo>
                    <a:pt x="137210" y="247239"/>
                    <a:pt x="137216" y="249349"/>
                    <a:pt x="137216" y="251453"/>
                  </a:cubicBezTo>
                  <a:cubicBezTo>
                    <a:pt x="137216" y="252711"/>
                    <a:pt x="137223" y="253962"/>
                    <a:pt x="137235" y="255213"/>
                  </a:cubicBezTo>
                  <a:cubicBezTo>
                    <a:pt x="137298" y="261380"/>
                    <a:pt x="137229" y="266163"/>
                    <a:pt x="132863" y="270964"/>
                  </a:cubicBezTo>
                  <a:cubicBezTo>
                    <a:pt x="128863" y="274591"/>
                    <a:pt x="125218" y="274983"/>
                    <a:pt x="119986" y="274913"/>
                  </a:cubicBezTo>
                  <a:cubicBezTo>
                    <a:pt x="119544" y="274913"/>
                    <a:pt x="119101" y="274907"/>
                    <a:pt x="118659" y="274907"/>
                  </a:cubicBezTo>
                  <a:cubicBezTo>
                    <a:pt x="117591" y="274901"/>
                    <a:pt x="116517" y="274888"/>
                    <a:pt x="115443" y="274876"/>
                  </a:cubicBezTo>
                  <a:cubicBezTo>
                    <a:pt x="115418" y="275116"/>
                    <a:pt x="115386" y="275362"/>
                    <a:pt x="115355" y="275609"/>
                  </a:cubicBezTo>
                  <a:cubicBezTo>
                    <a:pt x="115045" y="277763"/>
                    <a:pt x="114603" y="279513"/>
                    <a:pt x="113510" y="281390"/>
                  </a:cubicBezTo>
                  <a:cubicBezTo>
                    <a:pt x="113440" y="281510"/>
                    <a:pt x="113440" y="281510"/>
                    <a:pt x="113093" y="282110"/>
                  </a:cubicBezTo>
                  <a:cubicBezTo>
                    <a:pt x="109321" y="288378"/>
                    <a:pt x="104215" y="292921"/>
                    <a:pt x="97069" y="294797"/>
                  </a:cubicBezTo>
                  <a:cubicBezTo>
                    <a:pt x="89955" y="296421"/>
                    <a:pt x="82354" y="295985"/>
                    <a:pt x="76035" y="292024"/>
                  </a:cubicBezTo>
                  <a:cubicBezTo>
                    <a:pt x="71600" y="288972"/>
                    <a:pt x="68270" y="285503"/>
                    <a:pt x="66280" y="280486"/>
                  </a:cubicBezTo>
                  <a:cubicBezTo>
                    <a:pt x="66204" y="280284"/>
                    <a:pt x="66122" y="280088"/>
                    <a:pt x="66040" y="279886"/>
                  </a:cubicBezTo>
                  <a:cubicBezTo>
                    <a:pt x="65452" y="278218"/>
                    <a:pt x="65452" y="276632"/>
                    <a:pt x="65528" y="274876"/>
                  </a:cubicBezTo>
                  <a:cubicBezTo>
                    <a:pt x="65212" y="274888"/>
                    <a:pt x="64896" y="274895"/>
                    <a:pt x="64567" y="274907"/>
                  </a:cubicBezTo>
                  <a:cubicBezTo>
                    <a:pt x="63360" y="274939"/>
                    <a:pt x="62154" y="274964"/>
                    <a:pt x="60947" y="274983"/>
                  </a:cubicBezTo>
                  <a:cubicBezTo>
                    <a:pt x="60429" y="274989"/>
                    <a:pt x="59917" y="275002"/>
                    <a:pt x="59399" y="275021"/>
                  </a:cubicBezTo>
                  <a:cubicBezTo>
                    <a:pt x="54748" y="275166"/>
                    <a:pt x="50281" y="274497"/>
                    <a:pt x="46693" y="271243"/>
                  </a:cubicBezTo>
                  <a:cubicBezTo>
                    <a:pt x="46522" y="271110"/>
                    <a:pt x="46351" y="270971"/>
                    <a:pt x="46174" y="270832"/>
                  </a:cubicBezTo>
                  <a:cubicBezTo>
                    <a:pt x="44058" y="268993"/>
                    <a:pt x="42851" y="266093"/>
                    <a:pt x="42611" y="263332"/>
                  </a:cubicBezTo>
                  <a:cubicBezTo>
                    <a:pt x="42529" y="261696"/>
                    <a:pt x="42554" y="260059"/>
                    <a:pt x="42579" y="258422"/>
                  </a:cubicBezTo>
                  <a:cubicBezTo>
                    <a:pt x="42579" y="257803"/>
                    <a:pt x="42579" y="257190"/>
                    <a:pt x="42579" y="256578"/>
                  </a:cubicBezTo>
                  <a:cubicBezTo>
                    <a:pt x="42586" y="255289"/>
                    <a:pt x="42592" y="254000"/>
                    <a:pt x="42605" y="252711"/>
                  </a:cubicBezTo>
                  <a:cubicBezTo>
                    <a:pt x="42623" y="251099"/>
                    <a:pt x="42630" y="249488"/>
                    <a:pt x="42636" y="247877"/>
                  </a:cubicBezTo>
                  <a:cubicBezTo>
                    <a:pt x="42649" y="241496"/>
                    <a:pt x="42756" y="235120"/>
                    <a:pt x="43072" y="228745"/>
                  </a:cubicBezTo>
                  <a:cubicBezTo>
                    <a:pt x="43078" y="228618"/>
                    <a:pt x="43078" y="228618"/>
                    <a:pt x="43110" y="227968"/>
                  </a:cubicBezTo>
                  <a:cubicBezTo>
                    <a:pt x="43704" y="215931"/>
                    <a:pt x="43704" y="215931"/>
                    <a:pt x="45334" y="214124"/>
                  </a:cubicBezTo>
                  <a:cubicBezTo>
                    <a:pt x="45536" y="213947"/>
                    <a:pt x="45738" y="213770"/>
                    <a:pt x="45941" y="213587"/>
                  </a:cubicBezTo>
                  <a:cubicBezTo>
                    <a:pt x="45947" y="213726"/>
                    <a:pt x="45947" y="213726"/>
                    <a:pt x="45979" y="214446"/>
                  </a:cubicBezTo>
                  <a:cubicBezTo>
                    <a:pt x="46029" y="215501"/>
                    <a:pt x="46086" y="216550"/>
                    <a:pt x="46143" y="217599"/>
                  </a:cubicBezTo>
                  <a:cubicBezTo>
                    <a:pt x="46168" y="218054"/>
                    <a:pt x="46187" y="218515"/>
                    <a:pt x="46212" y="218970"/>
                  </a:cubicBezTo>
                  <a:cubicBezTo>
                    <a:pt x="46238" y="219621"/>
                    <a:pt x="46276" y="220278"/>
                    <a:pt x="46313" y="220929"/>
                  </a:cubicBezTo>
                  <a:cubicBezTo>
                    <a:pt x="46332" y="221321"/>
                    <a:pt x="46351" y="221719"/>
                    <a:pt x="46370" y="222123"/>
                  </a:cubicBezTo>
                  <a:cubicBezTo>
                    <a:pt x="46408" y="222281"/>
                    <a:pt x="46408" y="222281"/>
                    <a:pt x="46572" y="223065"/>
                  </a:cubicBezTo>
                  <a:cubicBezTo>
                    <a:pt x="46989" y="223273"/>
                    <a:pt x="47406" y="223482"/>
                    <a:pt x="47836" y="223696"/>
                  </a:cubicBezTo>
                  <a:cubicBezTo>
                    <a:pt x="48045" y="227658"/>
                    <a:pt x="48253" y="231620"/>
                    <a:pt x="48468" y="235701"/>
                  </a:cubicBezTo>
                  <a:cubicBezTo>
                    <a:pt x="49150" y="235525"/>
                    <a:pt x="49150" y="235525"/>
                    <a:pt x="52607" y="234634"/>
                  </a:cubicBezTo>
                  <a:cubicBezTo>
                    <a:pt x="60618" y="232694"/>
                    <a:pt x="68788" y="231563"/>
                    <a:pt x="76926" y="230318"/>
                  </a:cubicBezTo>
                  <a:cubicBezTo>
                    <a:pt x="78461" y="230084"/>
                    <a:pt x="79997" y="229851"/>
                    <a:pt x="81532" y="229604"/>
                  </a:cubicBezTo>
                  <a:cubicBezTo>
                    <a:pt x="90599" y="228189"/>
                    <a:pt x="99672" y="226818"/>
                    <a:pt x="108765" y="225592"/>
                  </a:cubicBezTo>
                  <a:cubicBezTo>
                    <a:pt x="109567" y="225485"/>
                    <a:pt x="110369" y="225371"/>
                    <a:pt x="111172" y="225263"/>
                  </a:cubicBezTo>
                  <a:cubicBezTo>
                    <a:pt x="117433" y="224411"/>
                    <a:pt x="123663" y="223848"/>
                    <a:pt x="129975" y="223696"/>
                  </a:cubicBezTo>
                  <a:cubicBezTo>
                    <a:pt x="129994" y="222787"/>
                    <a:pt x="130001" y="221877"/>
                    <a:pt x="130007" y="220967"/>
                  </a:cubicBezTo>
                  <a:cubicBezTo>
                    <a:pt x="130013" y="220841"/>
                    <a:pt x="130013" y="220841"/>
                    <a:pt x="130026" y="220196"/>
                  </a:cubicBezTo>
                  <a:cubicBezTo>
                    <a:pt x="130039" y="218275"/>
                    <a:pt x="129906" y="216437"/>
                    <a:pt x="128712" y="214851"/>
                  </a:cubicBezTo>
                  <a:cubicBezTo>
                    <a:pt x="126892" y="213145"/>
                    <a:pt x="124775" y="213397"/>
                    <a:pt x="122406" y="213397"/>
                  </a:cubicBezTo>
                  <a:cubicBezTo>
                    <a:pt x="121951" y="213391"/>
                    <a:pt x="121496" y="213385"/>
                    <a:pt x="121041" y="213379"/>
                  </a:cubicBezTo>
                  <a:cubicBezTo>
                    <a:pt x="119809" y="213366"/>
                    <a:pt x="118571" y="213360"/>
                    <a:pt x="117332" y="213353"/>
                  </a:cubicBezTo>
                  <a:cubicBezTo>
                    <a:pt x="116018" y="213347"/>
                    <a:pt x="114704" y="213328"/>
                    <a:pt x="113383" y="213315"/>
                  </a:cubicBezTo>
                  <a:cubicBezTo>
                    <a:pt x="111140" y="213290"/>
                    <a:pt x="108897" y="213271"/>
                    <a:pt x="106654" y="213259"/>
                  </a:cubicBezTo>
                  <a:cubicBezTo>
                    <a:pt x="103173" y="213233"/>
                    <a:pt x="99691" y="213202"/>
                    <a:pt x="96210" y="213164"/>
                  </a:cubicBezTo>
                  <a:cubicBezTo>
                    <a:pt x="95926" y="213164"/>
                    <a:pt x="95641" y="213157"/>
                    <a:pt x="95344" y="213157"/>
                  </a:cubicBezTo>
                  <a:cubicBezTo>
                    <a:pt x="94194" y="213145"/>
                    <a:pt x="93038" y="213132"/>
                    <a:pt x="91888" y="213119"/>
                  </a:cubicBezTo>
                  <a:cubicBezTo>
                    <a:pt x="90163" y="213100"/>
                    <a:pt x="88445" y="213088"/>
                    <a:pt x="86726" y="213069"/>
                  </a:cubicBezTo>
                  <a:cubicBezTo>
                    <a:pt x="77552" y="212980"/>
                    <a:pt x="68384" y="212829"/>
                    <a:pt x="59209" y="212601"/>
                  </a:cubicBezTo>
                  <a:cubicBezTo>
                    <a:pt x="58628" y="212589"/>
                    <a:pt x="58047" y="212570"/>
                    <a:pt x="57465" y="212557"/>
                  </a:cubicBezTo>
                  <a:cubicBezTo>
                    <a:pt x="54470" y="212481"/>
                    <a:pt x="51469" y="212406"/>
                    <a:pt x="48468" y="212323"/>
                  </a:cubicBezTo>
                  <a:cubicBezTo>
                    <a:pt x="48468" y="211906"/>
                    <a:pt x="48468" y="211489"/>
                    <a:pt x="48468" y="211060"/>
                  </a:cubicBezTo>
                  <a:cubicBezTo>
                    <a:pt x="47760" y="210282"/>
                    <a:pt x="46977" y="209613"/>
                    <a:pt x="46187" y="208918"/>
                  </a:cubicBezTo>
                  <a:cubicBezTo>
                    <a:pt x="43578" y="206169"/>
                    <a:pt x="42990" y="202549"/>
                    <a:pt x="42371" y="198966"/>
                  </a:cubicBezTo>
                  <a:cubicBezTo>
                    <a:pt x="39711" y="183701"/>
                    <a:pt x="33266" y="170818"/>
                    <a:pt x="22683" y="159590"/>
                  </a:cubicBezTo>
                  <a:cubicBezTo>
                    <a:pt x="16996" y="153537"/>
                    <a:pt x="12068" y="146922"/>
                    <a:pt x="8030" y="139662"/>
                  </a:cubicBezTo>
                  <a:cubicBezTo>
                    <a:pt x="7929" y="139472"/>
                    <a:pt x="7822" y="139282"/>
                    <a:pt x="7714" y="139087"/>
                  </a:cubicBezTo>
                  <a:cubicBezTo>
                    <a:pt x="-4675" y="116739"/>
                    <a:pt x="-6912" y="90454"/>
                    <a:pt x="0" y="65983"/>
                  </a:cubicBezTo>
                  <a:cubicBezTo>
                    <a:pt x="1105" y="62192"/>
                    <a:pt x="2584" y="58578"/>
                    <a:pt x="4239" y="54995"/>
                  </a:cubicBezTo>
                  <a:cubicBezTo>
                    <a:pt x="4416" y="54616"/>
                    <a:pt x="4593" y="54237"/>
                    <a:pt x="4770" y="53851"/>
                  </a:cubicBezTo>
                  <a:cubicBezTo>
                    <a:pt x="8485" y="45865"/>
                    <a:pt x="13028" y="38908"/>
                    <a:pt x="18771" y="32249"/>
                  </a:cubicBezTo>
                  <a:cubicBezTo>
                    <a:pt x="19005" y="31977"/>
                    <a:pt x="19233" y="31712"/>
                    <a:pt x="19473" y="31434"/>
                  </a:cubicBezTo>
                  <a:cubicBezTo>
                    <a:pt x="34296" y="14102"/>
                    <a:pt x="54502" y="3917"/>
                    <a:pt x="76901" y="657"/>
                  </a:cubicBezTo>
                  <a:cubicBezTo>
                    <a:pt x="77191" y="613"/>
                    <a:pt x="77482" y="568"/>
                    <a:pt x="77785" y="518"/>
                  </a:cubicBezTo>
                  <a:cubicBezTo>
                    <a:pt x="79801" y="208"/>
                    <a:pt x="81798" y="82"/>
                    <a:pt x="83832" y="0"/>
                  </a:cubicBezTo>
                  <a:close/>
                  <a:moveTo>
                    <a:pt x="121762" y="99856"/>
                  </a:moveTo>
                  <a:cubicBezTo>
                    <a:pt x="121673" y="99969"/>
                    <a:pt x="121673" y="99969"/>
                    <a:pt x="121224" y="100557"/>
                  </a:cubicBezTo>
                  <a:cubicBezTo>
                    <a:pt x="117193" y="105801"/>
                    <a:pt x="113042" y="110837"/>
                    <a:pt x="108493" y="115652"/>
                  </a:cubicBezTo>
                  <a:cubicBezTo>
                    <a:pt x="107330" y="115386"/>
                    <a:pt x="106749" y="115241"/>
                    <a:pt x="106067" y="114224"/>
                  </a:cubicBezTo>
                  <a:cubicBezTo>
                    <a:pt x="105928" y="113895"/>
                    <a:pt x="105795" y="113567"/>
                    <a:pt x="105650" y="113226"/>
                  </a:cubicBezTo>
                  <a:cubicBezTo>
                    <a:pt x="105498" y="112853"/>
                    <a:pt x="105340" y="112486"/>
                    <a:pt x="105182" y="112107"/>
                  </a:cubicBezTo>
                  <a:cubicBezTo>
                    <a:pt x="105024" y="111709"/>
                    <a:pt x="104860" y="111311"/>
                    <a:pt x="104702" y="110913"/>
                  </a:cubicBezTo>
                  <a:cubicBezTo>
                    <a:pt x="104538" y="110509"/>
                    <a:pt x="104373" y="110111"/>
                    <a:pt x="104203" y="109706"/>
                  </a:cubicBezTo>
                  <a:cubicBezTo>
                    <a:pt x="102964" y="106679"/>
                    <a:pt x="101859" y="103621"/>
                    <a:pt x="100911" y="100488"/>
                  </a:cubicBezTo>
                  <a:cubicBezTo>
                    <a:pt x="99300" y="101941"/>
                    <a:pt x="98396" y="103375"/>
                    <a:pt x="97448" y="105309"/>
                  </a:cubicBezTo>
                  <a:cubicBezTo>
                    <a:pt x="97151" y="105877"/>
                    <a:pt x="96861" y="106446"/>
                    <a:pt x="96564" y="107008"/>
                  </a:cubicBezTo>
                  <a:cubicBezTo>
                    <a:pt x="96109" y="107899"/>
                    <a:pt x="95660" y="108784"/>
                    <a:pt x="95218" y="109675"/>
                  </a:cubicBezTo>
                  <a:cubicBezTo>
                    <a:pt x="92735" y="114691"/>
                    <a:pt x="92735" y="114691"/>
                    <a:pt x="90997" y="115551"/>
                  </a:cubicBezTo>
                  <a:cubicBezTo>
                    <a:pt x="90043" y="115709"/>
                    <a:pt x="89234" y="115765"/>
                    <a:pt x="88274" y="115652"/>
                  </a:cubicBezTo>
                  <a:cubicBezTo>
                    <a:pt x="85772" y="111829"/>
                    <a:pt x="83377" y="107994"/>
                    <a:pt x="81298" y="103925"/>
                  </a:cubicBezTo>
                  <a:cubicBezTo>
                    <a:pt x="81153" y="103653"/>
                    <a:pt x="81008" y="103375"/>
                    <a:pt x="80862" y="103091"/>
                  </a:cubicBezTo>
                  <a:cubicBezTo>
                    <a:pt x="80736" y="102844"/>
                    <a:pt x="80610" y="102604"/>
                    <a:pt x="80483" y="102351"/>
                  </a:cubicBezTo>
                  <a:cubicBezTo>
                    <a:pt x="79991" y="101650"/>
                    <a:pt x="79561" y="101473"/>
                    <a:pt x="78796" y="101119"/>
                  </a:cubicBezTo>
                  <a:cubicBezTo>
                    <a:pt x="78771" y="101201"/>
                    <a:pt x="78771" y="101201"/>
                    <a:pt x="78613" y="101612"/>
                  </a:cubicBezTo>
                  <a:cubicBezTo>
                    <a:pt x="77981" y="103318"/>
                    <a:pt x="77349" y="105018"/>
                    <a:pt x="76711" y="106717"/>
                  </a:cubicBezTo>
                  <a:cubicBezTo>
                    <a:pt x="76471" y="107356"/>
                    <a:pt x="76231" y="107987"/>
                    <a:pt x="75997" y="108626"/>
                  </a:cubicBezTo>
                  <a:cubicBezTo>
                    <a:pt x="75662" y="109535"/>
                    <a:pt x="75315" y="110452"/>
                    <a:pt x="74974" y="111362"/>
                  </a:cubicBezTo>
                  <a:cubicBezTo>
                    <a:pt x="74866" y="111646"/>
                    <a:pt x="74765" y="111930"/>
                    <a:pt x="74658" y="112221"/>
                  </a:cubicBezTo>
                  <a:cubicBezTo>
                    <a:pt x="73653" y="114856"/>
                    <a:pt x="73653" y="114856"/>
                    <a:pt x="72478" y="115652"/>
                  </a:cubicBezTo>
                  <a:cubicBezTo>
                    <a:pt x="71328" y="115797"/>
                    <a:pt x="70374" y="115481"/>
                    <a:pt x="69319" y="115020"/>
                  </a:cubicBezTo>
                  <a:cubicBezTo>
                    <a:pt x="68226" y="114148"/>
                    <a:pt x="67366" y="113131"/>
                    <a:pt x="66475" y="112057"/>
                  </a:cubicBezTo>
                  <a:cubicBezTo>
                    <a:pt x="66235" y="111772"/>
                    <a:pt x="65989" y="111488"/>
                    <a:pt x="65736" y="111197"/>
                  </a:cubicBezTo>
                  <a:cubicBezTo>
                    <a:pt x="65029" y="110370"/>
                    <a:pt x="64327" y="109535"/>
                    <a:pt x="63632" y="108701"/>
                  </a:cubicBezTo>
                  <a:cubicBezTo>
                    <a:pt x="63278" y="108278"/>
                    <a:pt x="62924" y="107861"/>
                    <a:pt x="62564" y="107438"/>
                  </a:cubicBezTo>
                  <a:cubicBezTo>
                    <a:pt x="61857" y="106604"/>
                    <a:pt x="61162" y="105764"/>
                    <a:pt x="60473" y="104911"/>
                  </a:cubicBezTo>
                  <a:cubicBezTo>
                    <a:pt x="59961" y="105694"/>
                    <a:pt x="59822" y="106054"/>
                    <a:pt x="59974" y="106989"/>
                  </a:cubicBezTo>
                  <a:cubicBezTo>
                    <a:pt x="60069" y="107299"/>
                    <a:pt x="60170" y="107608"/>
                    <a:pt x="60271" y="107931"/>
                  </a:cubicBezTo>
                  <a:cubicBezTo>
                    <a:pt x="60385" y="108284"/>
                    <a:pt x="60492" y="108644"/>
                    <a:pt x="60606" y="109011"/>
                  </a:cubicBezTo>
                  <a:cubicBezTo>
                    <a:pt x="60732" y="109403"/>
                    <a:pt x="60858" y="109795"/>
                    <a:pt x="60985" y="110199"/>
                  </a:cubicBezTo>
                  <a:cubicBezTo>
                    <a:pt x="61117" y="110616"/>
                    <a:pt x="61244" y="111033"/>
                    <a:pt x="61370" y="111450"/>
                  </a:cubicBezTo>
                  <a:cubicBezTo>
                    <a:pt x="61648" y="112347"/>
                    <a:pt x="61926" y="113251"/>
                    <a:pt x="62211" y="114148"/>
                  </a:cubicBezTo>
                  <a:cubicBezTo>
                    <a:pt x="68087" y="133129"/>
                    <a:pt x="71960" y="152330"/>
                    <a:pt x="74247" y="172063"/>
                  </a:cubicBezTo>
                  <a:cubicBezTo>
                    <a:pt x="74355" y="172991"/>
                    <a:pt x="74475" y="173926"/>
                    <a:pt x="74595" y="174855"/>
                  </a:cubicBezTo>
                  <a:cubicBezTo>
                    <a:pt x="75340" y="181123"/>
                    <a:pt x="75075" y="187511"/>
                    <a:pt x="75050" y="193804"/>
                  </a:cubicBezTo>
                  <a:cubicBezTo>
                    <a:pt x="75037" y="198037"/>
                    <a:pt x="75018" y="202271"/>
                    <a:pt x="75005" y="206637"/>
                  </a:cubicBezTo>
                  <a:cubicBezTo>
                    <a:pt x="84805" y="206637"/>
                    <a:pt x="94605" y="206637"/>
                    <a:pt x="104702" y="206637"/>
                  </a:cubicBezTo>
                  <a:cubicBezTo>
                    <a:pt x="104601" y="204451"/>
                    <a:pt x="104601" y="204451"/>
                    <a:pt x="104070" y="193368"/>
                  </a:cubicBezTo>
                  <a:cubicBezTo>
                    <a:pt x="104140" y="190165"/>
                    <a:pt x="104241" y="186999"/>
                    <a:pt x="104468" y="183815"/>
                  </a:cubicBezTo>
                  <a:cubicBezTo>
                    <a:pt x="104493" y="183391"/>
                    <a:pt x="104525" y="182968"/>
                    <a:pt x="104550" y="182551"/>
                  </a:cubicBezTo>
                  <a:cubicBezTo>
                    <a:pt x="106180" y="158440"/>
                    <a:pt x="110749" y="134379"/>
                    <a:pt x="118767" y="111576"/>
                  </a:cubicBezTo>
                  <a:cubicBezTo>
                    <a:pt x="118887" y="111242"/>
                    <a:pt x="119000" y="110900"/>
                    <a:pt x="119127" y="110553"/>
                  </a:cubicBezTo>
                  <a:cubicBezTo>
                    <a:pt x="119702" y="108916"/>
                    <a:pt x="120283" y="107286"/>
                    <a:pt x="120877" y="105656"/>
                  </a:cubicBezTo>
                  <a:cubicBezTo>
                    <a:pt x="121085" y="105075"/>
                    <a:pt x="121300" y="104494"/>
                    <a:pt x="121509" y="103912"/>
                  </a:cubicBezTo>
                  <a:cubicBezTo>
                    <a:pt x="121610" y="103647"/>
                    <a:pt x="121705" y="103381"/>
                    <a:pt x="121812" y="103109"/>
                  </a:cubicBezTo>
                  <a:cubicBezTo>
                    <a:pt x="121894" y="102863"/>
                    <a:pt x="121983" y="102617"/>
                    <a:pt x="122071" y="102364"/>
                  </a:cubicBezTo>
                  <a:cubicBezTo>
                    <a:pt x="122153" y="102156"/>
                    <a:pt x="122229" y="101941"/>
                    <a:pt x="122311" y="101726"/>
                  </a:cubicBezTo>
                  <a:cubicBezTo>
                    <a:pt x="122425" y="100930"/>
                    <a:pt x="122172" y="100532"/>
                    <a:pt x="121762" y="99856"/>
                  </a:cubicBezTo>
                  <a:close/>
                  <a:moveTo>
                    <a:pt x="127473" y="226647"/>
                  </a:moveTo>
                  <a:cubicBezTo>
                    <a:pt x="127101" y="226755"/>
                    <a:pt x="126721" y="226862"/>
                    <a:pt x="126336" y="226976"/>
                  </a:cubicBezTo>
                  <a:cubicBezTo>
                    <a:pt x="126134" y="227033"/>
                    <a:pt x="125938" y="227090"/>
                    <a:pt x="125729" y="227153"/>
                  </a:cubicBezTo>
                  <a:cubicBezTo>
                    <a:pt x="124655" y="227462"/>
                    <a:pt x="123581" y="227759"/>
                    <a:pt x="122507" y="228050"/>
                  </a:cubicBezTo>
                  <a:cubicBezTo>
                    <a:pt x="122286" y="228113"/>
                    <a:pt x="122065" y="228170"/>
                    <a:pt x="121837" y="228233"/>
                  </a:cubicBezTo>
                  <a:cubicBezTo>
                    <a:pt x="118141" y="229231"/>
                    <a:pt x="114388" y="229914"/>
                    <a:pt x="110629" y="230609"/>
                  </a:cubicBezTo>
                  <a:cubicBezTo>
                    <a:pt x="110199" y="230685"/>
                    <a:pt x="109776" y="230767"/>
                    <a:pt x="109346" y="230849"/>
                  </a:cubicBezTo>
                  <a:cubicBezTo>
                    <a:pt x="89215" y="234589"/>
                    <a:pt x="68921" y="236750"/>
                    <a:pt x="48468" y="237597"/>
                  </a:cubicBezTo>
                  <a:cubicBezTo>
                    <a:pt x="48398" y="243321"/>
                    <a:pt x="48424" y="248958"/>
                    <a:pt x="49100" y="254657"/>
                  </a:cubicBezTo>
                  <a:cubicBezTo>
                    <a:pt x="52221" y="254296"/>
                    <a:pt x="55305" y="253854"/>
                    <a:pt x="58394" y="253292"/>
                  </a:cubicBezTo>
                  <a:cubicBezTo>
                    <a:pt x="59588" y="253077"/>
                    <a:pt x="60789" y="252862"/>
                    <a:pt x="61983" y="252654"/>
                  </a:cubicBezTo>
                  <a:cubicBezTo>
                    <a:pt x="62242" y="252610"/>
                    <a:pt x="62495" y="252565"/>
                    <a:pt x="62760" y="252515"/>
                  </a:cubicBezTo>
                  <a:cubicBezTo>
                    <a:pt x="74348" y="250468"/>
                    <a:pt x="85961" y="248686"/>
                    <a:pt x="97613" y="247043"/>
                  </a:cubicBezTo>
                  <a:cubicBezTo>
                    <a:pt x="98763" y="246879"/>
                    <a:pt x="99912" y="246714"/>
                    <a:pt x="101062" y="246550"/>
                  </a:cubicBezTo>
                  <a:cubicBezTo>
                    <a:pt x="110906" y="245147"/>
                    <a:pt x="120700" y="244061"/>
                    <a:pt x="130607" y="243283"/>
                  </a:cubicBezTo>
                  <a:cubicBezTo>
                    <a:pt x="130607" y="237863"/>
                    <a:pt x="130607" y="232441"/>
                    <a:pt x="130607" y="226856"/>
                  </a:cubicBezTo>
                  <a:cubicBezTo>
                    <a:pt x="129154" y="226129"/>
                    <a:pt x="128965" y="226211"/>
                    <a:pt x="127473" y="226647"/>
                  </a:cubicBezTo>
                  <a:close/>
                  <a:moveTo>
                    <a:pt x="125780" y="246506"/>
                  </a:moveTo>
                  <a:cubicBezTo>
                    <a:pt x="125161" y="246664"/>
                    <a:pt x="124548" y="246815"/>
                    <a:pt x="123929" y="246967"/>
                  </a:cubicBezTo>
                  <a:cubicBezTo>
                    <a:pt x="123764" y="247005"/>
                    <a:pt x="123764" y="247005"/>
                    <a:pt x="122924" y="247213"/>
                  </a:cubicBezTo>
                  <a:cubicBezTo>
                    <a:pt x="98819" y="253109"/>
                    <a:pt x="73805" y="255446"/>
                    <a:pt x="49100" y="257184"/>
                  </a:cubicBezTo>
                  <a:cubicBezTo>
                    <a:pt x="49068" y="258302"/>
                    <a:pt x="49049" y="259421"/>
                    <a:pt x="49030" y="260539"/>
                  </a:cubicBezTo>
                  <a:cubicBezTo>
                    <a:pt x="49024" y="260855"/>
                    <a:pt x="49011" y="261171"/>
                    <a:pt x="49005" y="261493"/>
                  </a:cubicBezTo>
                  <a:cubicBezTo>
                    <a:pt x="48980" y="263705"/>
                    <a:pt x="49258" y="265069"/>
                    <a:pt x="50831" y="266725"/>
                  </a:cubicBezTo>
                  <a:cubicBezTo>
                    <a:pt x="52891" y="268191"/>
                    <a:pt x="54572" y="268747"/>
                    <a:pt x="57099" y="268721"/>
                  </a:cubicBezTo>
                  <a:cubicBezTo>
                    <a:pt x="57383" y="268721"/>
                    <a:pt x="57668" y="268728"/>
                    <a:pt x="57965" y="268728"/>
                  </a:cubicBezTo>
                  <a:cubicBezTo>
                    <a:pt x="58919" y="268734"/>
                    <a:pt x="59866" y="268734"/>
                    <a:pt x="60820" y="268734"/>
                  </a:cubicBezTo>
                  <a:cubicBezTo>
                    <a:pt x="61509" y="268734"/>
                    <a:pt x="62192" y="268734"/>
                    <a:pt x="62880" y="268740"/>
                  </a:cubicBezTo>
                  <a:cubicBezTo>
                    <a:pt x="64738" y="268747"/>
                    <a:pt x="66595" y="268747"/>
                    <a:pt x="68453" y="268747"/>
                  </a:cubicBezTo>
                  <a:cubicBezTo>
                    <a:pt x="70001" y="268747"/>
                    <a:pt x="71555" y="268753"/>
                    <a:pt x="73110" y="268753"/>
                  </a:cubicBezTo>
                  <a:cubicBezTo>
                    <a:pt x="76774" y="268759"/>
                    <a:pt x="80439" y="268759"/>
                    <a:pt x="84104" y="268759"/>
                  </a:cubicBezTo>
                  <a:cubicBezTo>
                    <a:pt x="87882" y="268753"/>
                    <a:pt x="91654" y="268759"/>
                    <a:pt x="95433" y="268772"/>
                  </a:cubicBezTo>
                  <a:cubicBezTo>
                    <a:pt x="98674" y="268785"/>
                    <a:pt x="101922" y="268791"/>
                    <a:pt x="105169" y="268785"/>
                  </a:cubicBezTo>
                  <a:cubicBezTo>
                    <a:pt x="107103" y="268785"/>
                    <a:pt x="109043" y="268785"/>
                    <a:pt x="110976" y="268797"/>
                  </a:cubicBezTo>
                  <a:cubicBezTo>
                    <a:pt x="112802" y="268804"/>
                    <a:pt x="114622" y="268804"/>
                    <a:pt x="116448" y="268797"/>
                  </a:cubicBezTo>
                  <a:cubicBezTo>
                    <a:pt x="117111" y="268791"/>
                    <a:pt x="117781" y="268797"/>
                    <a:pt x="118444" y="268797"/>
                  </a:cubicBezTo>
                  <a:cubicBezTo>
                    <a:pt x="122494" y="268829"/>
                    <a:pt x="125742" y="268797"/>
                    <a:pt x="128889" y="265929"/>
                  </a:cubicBezTo>
                  <a:cubicBezTo>
                    <a:pt x="131757" y="262864"/>
                    <a:pt x="130873" y="257967"/>
                    <a:pt x="130765" y="254107"/>
                  </a:cubicBezTo>
                  <a:cubicBezTo>
                    <a:pt x="130753" y="253298"/>
                    <a:pt x="130746" y="252496"/>
                    <a:pt x="130734" y="251693"/>
                  </a:cubicBezTo>
                  <a:cubicBezTo>
                    <a:pt x="130708" y="249728"/>
                    <a:pt x="130664" y="247770"/>
                    <a:pt x="130607" y="245811"/>
                  </a:cubicBezTo>
                  <a:cubicBezTo>
                    <a:pt x="128895" y="245716"/>
                    <a:pt x="127423" y="246083"/>
                    <a:pt x="125780" y="246506"/>
                  </a:cubicBezTo>
                  <a:close/>
                  <a:moveTo>
                    <a:pt x="66791" y="274876"/>
                  </a:moveTo>
                  <a:cubicBezTo>
                    <a:pt x="69003" y="280038"/>
                    <a:pt x="69003" y="280038"/>
                    <a:pt x="70702" y="281864"/>
                  </a:cubicBezTo>
                  <a:cubicBezTo>
                    <a:pt x="70892" y="282072"/>
                    <a:pt x="71082" y="282281"/>
                    <a:pt x="71277" y="282502"/>
                  </a:cubicBezTo>
                  <a:cubicBezTo>
                    <a:pt x="75606" y="287121"/>
                    <a:pt x="80199" y="290002"/>
                    <a:pt x="86606" y="290293"/>
                  </a:cubicBezTo>
                  <a:cubicBezTo>
                    <a:pt x="93670" y="290419"/>
                    <a:pt x="98718" y="288871"/>
                    <a:pt x="103887" y="283993"/>
                  </a:cubicBezTo>
                  <a:cubicBezTo>
                    <a:pt x="106800" y="281099"/>
                    <a:pt x="108297" y="279014"/>
                    <a:pt x="109125" y="274876"/>
                  </a:cubicBezTo>
                  <a:cubicBezTo>
                    <a:pt x="95155" y="274876"/>
                    <a:pt x="81185" y="274876"/>
                    <a:pt x="66791" y="274876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18" name="New shape"/>
            <p:cNvSpPr/>
            <p:nvPr>
              <p:custDataLst>
                <p:tags r:id="rId8"/>
              </p:custDataLst>
            </p:nvPr>
          </p:nvSpPr>
          <p:spPr>
            <a:xfrm>
              <a:off x="-75695" y="5020307"/>
              <a:ext cx="54338" cy="5990"/>
            </a:xfrm>
            <a:custGeom>
              <a:avLst/>
              <a:gdLst/>
              <a:ahLst/>
              <a:cxnLst/>
              <a:rect l="l" t="t" r="r" b="b"/>
              <a:pathLst>
                <a:path w="54338" h="5989">
                  <a:moveTo>
                    <a:pt x="14589" y="6"/>
                  </a:moveTo>
                  <a:cubicBezTo>
                    <a:pt x="15240" y="6"/>
                    <a:pt x="15897" y="6"/>
                    <a:pt x="16547" y="0"/>
                  </a:cubicBezTo>
                  <a:cubicBezTo>
                    <a:pt x="17912" y="0"/>
                    <a:pt x="19277" y="6"/>
                    <a:pt x="20642" y="6"/>
                  </a:cubicBezTo>
                  <a:cubicBezTo>
                    <a:pt x="22348" y="18"/>
                    <a:pt x="24047" y="12"/>
                    <a:pt x="25753" y="6"/>
                  </a:cubicBezTo>
                  <a:cubicBezTo>
                    <a:pt x="32413" y="-18"/>
                    <a:pt x="39022" y="88"/>
                    <a:pt x="45650" y="739"/>
                  </a:cubicBezTo>
                  <a:cubicBezTo>
                    <a:pt x="45783" y="751"/>
                    <a:pt x="45783" y="751"/>
                    <a:pt x="46446" y="808"/>
                  </a:cubicBezTo>
                  <a:cubicBezTo>
                    <a:pt x="49226" y="1080"/>
                    <a:pt x="51810" y="1422"/>
                    <a:pt x="54338" y="2704"/>
                  </a:cubicBezTo>
                  <a:cubicBezTo>
                    <a:pt x="54338" y="3121"/>
                    <a:pt x="54338" y="3538"/>
                    <a:pt x="54338" y="3967"/>
                  </a:cubicBezTo>
                  <a:cubicBezTo>
                    <a:pt x="45069" y="5731"/>
                    <a:pt x="35869" y="5977"/>
                    <a:pt x="26461" y="5977"/>
                  </a:cubicBezTo>
                  <a:cubicBezTo>
                    <a:pt x="25305" y="5977"/>
                    <a:pt x="24142" y="5983"/>
                    <a:pt x="22986" y="5989"/>
                  </a:cubicBezTo>
                  <a:cubicBezTo>
                    <a:pt x="17148" y="6034"/>
                    <a:pt x="11366" y="6002"/>
                    <a:pt x="5560" y="5263"/>
                  </a:cubicBezTo>
                  <a:cubicBezTo>
                    <a:pt x="5351" y="5231"/>
                    <a:pt x="5136" y="5206"/>
                    <a:pt x="4915" y="5181"/>
                  </a:cubicBezTo>
                  <a:cubicBezTo>
                    <a:pt x="1282" y="4701"/>
                    <a:pt x="1282" y="4701"/>
                    <a:pt x="0" y="3967"/>
                  </a:cubicBezTo>
                  <a:cubicBezTo>
                    <a:pt x="208" y="3133"/>
                    <a:pt x="416" y="2300"/>
                    <a:pt x="631" y="1440"/>
                  </a:cubicBezTo>
                  <a:cubicBezTo>
                    <a:pt x="5332" y="442"/>
                    <a:pt x="9793" y="-18"/>
                    <a:pt x="14589" y="6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19" name="New shape"/>
            <p:cNvSpPr/>
            <p:nvPr>
              <p:custDataLst>
                <p:tags r:id="rId9"/>
              </p:custDataLst>
            </p:nvPr>
          </p:nvSpPr>
          <p:spPr>
            <a:xfrm>
              <a:off x="198525" y="5020331"/>
              <a:ext cx="54970" cy="5364"/>
            </a:xfrm>
            <a:custGeom>
              <a:avLst/>
              <a:gdLst/>
              <a:ahLst/>
              <a:cxnLst/>
              <a:rect l="l" t="t" r="r" b="b"/>
              <a:pathLst>
                <a:path w="54970" h="5364">
                  <a:moveTo>
                    <a:pt x="22076" y="44"/>
                  </a:moveTo>
                  <a:cubicBezTo>
                    <a:pt x="22771" y="44"/>
                    <a:pt x="23466" y="37"/>
                    <a:pt x="24161" y="37"/>
                  </a:cubicBezTo>
                  <a:cubicBezTo>
                    <a:pt x="25602" y="31"/>
                    <a:pt x="27049" y="31"/>
                    <a:pt x="28489" y="31"/>
                  </a:cubicBezTo>
                  <a:cubicBezTo>
                    <a:pt x="30315" y="31"/>
                    <a:pt x="32148" y="25"/>
                    <a:pt x="33974" y="12"/>
                  </a:cubicBezTo>
                  <a:cubicBezTo>
                    <a:pt x="35402" y="6"/>
                    <a:pt x="36836" y="6"/>
                    <a:pt x="38264" y="6"/>
                  </a:cubicBezTo>
                  <a:cubicBezTo>
                    <a:pt x="38940" y="6"/>
                    <a:pt x="39610" y="0"/>
                    <a:pt x="40286" y="0"/>
                  </a:cubicBezTo>
                  <a:cubicBezTo>
                    <a:pt x="43773" y="-25"/>
                    <a:pt x="47173" y="107"/>
                    <a:pt x="50616" y="669"/>
                  </a:cubicBezTo>
                  <a:cubicBezTo>
                    <a:pt x="50907" y="713"/>
                    <a:pt x="51204" y="758"/>
                    <a:pt x="51501" y="802"/>
                  </a:cubicBezTo>
                  <a:cubicBezTo>
                    <a:pt x="53460" y="1168"/>
                    <a:pt x="53460" y="1168"/>
                    <a:pt x="54174" y="1882"/>
                  </a:cubicBezTo>
                  <a:cubicBezTo>
                    <a:pt x="54527" y="2407"/>
                    <a:pt x="54527" y="2407"/>
                    <a:pt x="54970" y="3310"/>
                  </a:cubicBezTo>
                  <a:cubicBezTo>
                    <a:pt x="52682" y="4688"/>
                    <a:pt x="50408" y="5010"/>
                    <a:pt x="47779" y="5282"/>
                  </a:cubicBezTo>
                  <a:cubicBezTo>
                    <a:pt x="47539" y="5307"/>
                    <a:pt x="47293" y="5338"/>
                    <a:pt x="47040" y="5364"/>
                  </a:cubicBezTo>
                  <a:cubicBezTo>
                    <a:pt x="33272" y="6779"/>
                    <a:pt x="18702" y="6476"/>
                    <a:pt x="4972" y="4909"/>
                  </a:cubicBezTo>
                  <a:cubicBezTo>
                    <a:pt x="4757" y="4884"/>
                    <a:pt x="4542" y="4865"/>
                    <a:pt x="4321" y="4840"/>
                  </a:cubicBezTo>
                  <a:cubicBezTo>
                    <a:pt x="2836" y="4650"/>
                    <a:pt x="1434" y="4321"/>
                    <a:pt x="0" y="3942"/>
                  </a:cubicBezTo>
                  <a:cubicBezTo>
                    <a:pt x="0" y="3317"/>
                    <a:pt x="0" y="2691"/>
                    <a:pt x="0" y="2047"/>
                  </a:cubicBezTo>
                  <a:cubicBezTo>
                    <a:pt x="998" y="1838"/>
                    <a:pt x="1996" y="1649"/>
                    <a:pt x="3001" y="1453"/>
                  </a:cubicBezTo>
                  <a:cubicBezTo>
                    <a:pt x="3266" y="1396"/>
                    <a:pt x="3538" y="1345"/>
                    <a:pt x="3810" y="1289"/>
                  </a:cubicBezTo>
                  <a:cubicBezTo>
                    <a:pt x="9818" y="145"/>
                    <a:pt x="15985" y="50"/>
                    <a:pt x="22076" y="44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Noto Sans CJK SC"/>
                  <a:cs typeface="+mn-cs"/>
                </a:defRPr>
              </a:lvl9pPr>
            </a:lstStyle>
            <a:p>
              <a:pPr algn="ctr"/>
              <a:endParaRPr/>
            </a:p>
          </p:txBody>
        </p:sp>
      </p:grpSp>
      <p:graphicFrame>
        <p:nvGraphicFramePr>
          <p:cNvPr id="64" name="Object 63">
            <a:extLst>
              <a:ext uri="{FF2B5EF4-FFF2-40B4-BE49-F238E27FC236}">
                <a16:creationId xmlns:a16="http://schemas.microsoft.com/office/drawing/2014/main" id="{1934B5AF-7375-E8C8-7A9A-19401788EF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4939083"/>
              </p:ext>
            </p:extLst>
          </p:nvPr>
        </p:nvGraphicFramePr>
        <p:xfrm>
          <a:off x="1143000" y="1544703"/>
          <a:ext cx="1981200" cy="24430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11" imgW="1340978" imgH="1653575" progId="Excel.Sheet.12">
                  <p:embed/>
                </p:oleObj>
              </mc:Choice>
              <mc:Fallback>
                <p:oleObj name="Worksheet" r:id="rId11" imgW="1340978" imgH="1653575" progId="Excel.Sheet.12">
                  <p:embed/>
                  <p:pic>
                    <p:nvPicPr>
                      <p:cNvPr id="64" name="Object 63">
                        <a:extLst>
                          <a:ext uri="{FF2B5EF4-FFF2-40B4-BE49-F238E27FC236}">
                            <a16:creationId xmlns:a16="http://schemas.microsoft.com/office/drawing/2014/main" id="{1934B5AF-7375-E8C8-7A9A-19401788EF7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143000" y="1544703"/>
                        <a:ext cx="1981200" cy="24430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9" name="Picture 68">
            <a:extLst>
              <a:ext uri="{FF2B5EF4-FFF2-40B4-BE49-F238E27FC236}">
                <a16:creationId xmlns:a16="http://schemas.microsoft.com/office/drawing/2014/main" id="{D5FE318A-82AD-9811-2810-3A3A55870F5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5400" y="1370079"/>
            <a:ext cx="5486400" cy="36576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10"/>
            <p:custDataLst>
              <p:tags r:id="rId1"/>
            </p:custDataLst>
          </p:nvPr>
        </p:nvSpPr>
        <p:spPr/>
        <p:txBody>
          <a:bodyPr lIns="0" rIns="0">
            <a:normAutofit/>
          </a:bodyPr>
          <a:lstStyle/>
          <a:p>
            <a:pPr lvl="0">
              <a:spcBef>
                <a:spcPct val="21875"/>
              </a:spcBef>
              <a:spcAft>
                <a:spcPct val="21875"/>
              </a:spcAft>
            </a:pPr>
            <a:r>
              <a:rPr lang="en-US" sz="2378" dirty="0">
                <a:latin typeface="+mj-lt"/>
                <a:cs typeface="+mj-lt"/>
              </a:rPr>
              <a:t>2. What is the percentage of unique product increase in 2021 vs. 2020?</a:t>
            </a:r>
            <a:endParaRPr lang="en-US" sz="2378" dirty="0">
              <a:latin typeface="+mj-lt"/>
              <a:ea typeface="+mj-ea"/>
              <a:cs typeface="+mj-lt"/>
            </a:endParaRPr>
          </a:p>
        </p:txBody>
      </p:sp>
      <p:sp>
        <p:nvSpPr>
          <p:cNvPr id="15" name="New shape"/>
          <p:cNvSpPr/>
          <p:nvPr>
            <p:custDataLst>
              <p:tags r:id="rId2"/>
            </p:custDataLst>
          </p:nvPr>
        </p:nvSpPr>
        <p:spPr>
          <a:xfrm>
            <a:off x="8458200" y="1185672"/>
            <a:ext cx="3352800" cy="4407408"/>
          </a:xfrm>
          <a:custGeom>
            <a:avLst/>
            <a:gdLst/>
            <a:ahLst/>
            <a:cxnLst/>
            <a:rect l="l" t="t" r="r" b="b"/>
            <a:pathLst>
              <a:path w="3352800" h="4407407">
                <a:moveTo>
                  <a:pt x="0" y="0"/>
                </a:moveTo>
                <a:lnTo>
                  <a:pt x="3352800" y="0"/>
                </a:lnTo>
                <a:lnTo>
                  <a:pt x="3352800" y="4407407"/>
                </a:lnTo>
                <a:lnTo>
                  <a:pt x="0" y="4407407"/>
                </a:lnTo>
                <a:close/>
              </a:path>
            </a:pathLst>
          </a:custGeom>
          <a:gradFill>
            <a:gsLst>
              <a:gs pos="0">
                <a:srgbClr val="084032"/>
              </a:gs>
              <a:gs pos="100000">
                <a:srgbClr val="000000"/>
              </a:gs>
            </a:gsLst>
            <a:lin ang="2700000"/>
          </a:gradFill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6" name="Rectangle 15"/>
          <p:cNvSpPr/>
          <p:nvPr>
            <p:custDataLst>
              <p:tags r:id="rId3"/>
            </p:custDataLst>
          </p:nvPr>
        </p:nvSpPr>
        <p:spPr>
          <a:xfrm>
            <a:off x="8648700" y="1371600"/>
            <a:ext cx="2971800" cy="3810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9pPr>
          </a:lstStyle>
          <a:p>
            <a:pPr marL="0">
              <a:spcBef>
                <a:spcPct val="21875"/>
              </a:spcBef>
              <a:spcAft>
                <a:spcPct val="21875"/>
              </a:spcAft>
            </a:pPr>
            <a:r>
              <a:rPr sz="2500" b="1" dirty="0">
                <a:solidFill>
                  <a:srgbClr val="FFFFFF"/>
                </a:solidFill>
                <a:latin typeface="+mn-lt"/>
                <a:ea typeface="+mn-ea"/>
                <a:cs typeface="+mn-lt"/>
              </a:rPr>
              <a:t>+36.3%</a:t>
            </a:r>
          </a:p>
        </p:txBody>
      </p:sp>
      <p:sp>
        <p:nvSpPr>
          <p:cNvPr id="17" name="Rectangle 16"/>
          <p:cNvSpPr/>
          <p:nvPr>
            <p:custDataLst>
              <p:tags r:id="rId4"/>
            </p:custDataLst>
          </p:nvPr>
        </p:nvSpPr>
        <p:spPr>
          <a:xfrm>
            <a:off x="8648700" y="1790700"/>
            <a:ext cx="2971800" cy="2286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9pPr>
          </a:lstStyle>
          <a:p>
            <a:pPr marL="0">
              <a:spcBef>
                <a:spcPct val="21875"/>
              </a:spcBef>
              <a:spcAft>
                <a:spcPct val="21875"/>
              </a:spcAft>
            </a:pPr>
            <a:r>
              <a:rPr sz="1500">
                <a:solidFill>
                  <a:srgbClr val="FFFFFF"/>
                </a:solidFill>
                <a:latin typeface="+mn-lt"/>
                <a:ea typeface="+mn-ea"/>
                <a:cs typeface="+mn-lt"/>
              </a:rPr>
              <a:t>portfolio growth YoY</a:t>
            </a:r>
          </a:p>
        </p:txBody>
      </p:sp>
      <p:sp>
        <p:nvSpPr>
          <p:cNvPr id="20" name="New shape"/>
          <p:cNvSpPr/>
          <p:nvPr>
            <p:custDataLst>
              <p:tags r:id="rId5"/>
            </p:custDataLst>
          </p:nvPr>
        </p:nvSpPr>
        <p:spPr>
          <a:xfrm>
            <a:off x="8648700" y="2133600"/>
            <a:ext cx="2781300" cy="0"/>
          </a:xfrm>
          <a:custGeom>
            <a:avLst/>
            <a:gdLst/>
            <a:ahLst/>
            <a:cxnLst/>
            <a:rect l="l" t="t" r="r" b="b"/>
            <a:pathLst>
              <a:path w="2781300">
                <a:moveTo>
                  <a:pt x="0" y="0"/>
                </a:moveTo>
                <a:lnTo>
                  <a:pt x="2781300" y="0"/>
                </a:lnTo>
              </a:path>
            </a:pathLst>
          </a:custGeom>
          <a:solidFill>
            <a:srgbClr val="000000">
              <a:alpha val="100000"/>
            </a:srgbClr>
          </a:solidFill>
          <a:ln w="9525" cmpd="sng">
            <a:solidFill>
              <a:srgbClr val="FFFFFF"/>
            </a:solidFill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1" name="Rectangle 20"/>
          <p:cNvSpPr/>
          <p:nvPr>
            <p:custDataLst>
              <p:tags r:id="rId6"/>
            </p:custDataLst>
          </p:nvPr>
        </p:nvSpPr>
        <p:spPr>
          <a:xfrm>
            <a:off x="8648700" y="2286000"/>
            <a:ext cx="2971800" cy="11430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9pPr>
          </a:lstStyle>
          <a:p>
            <a:pPr marL="152400" lvl="1" indent="-152400">
              <a:spcAft>
                <a:spcPts val="500"/>
              </a:spcAft>
              <a:buChar char="•"/>
            </a:pPr>
            <a:r>
              <a:rPr sz="1300">
                <a:solidFill>
                  <a:srgbClr val="FFFFFF"/>
                </a:solidFill>
                <a:latin typeface="+mn-lt"/>
                <a:ea typeface="+mn-ea"/>
                <a:cs typeface="+mn-lt"/>
              </a:rPr>
              <a:t>245 → 334 unique products</a:t>
            </a:r>
          </a:p>
          <a:p>
            <a:pPr marL="152400" lvl="1" indent="-152400">
              <a:spcAft>
                <a:spcPts val="500"/>
              </a:spcAft>
              <a:buChar char="•"/>
            </a:pPr>
            <a:r>
              <a:rPr sz="1300">
                <a:solidFill>
                  <a:srgbClr val="FFFFFF"/>
                </a:solidFill>
                <a:latin typeface="+mn-lt"/>
                <a:ea typeface="+mn-ea"/>
                <a:cs typeface="+mn-lt"/>
              </a:rPr>
              <a:t>Accessories alone: </a:t>
            </a:r>
            <a:r>
              <a:rPr sz="1300" b="1">
                <a:solidFill>
                  <a:srgbClr val="FFFFFF"/>
                </a:solidFill>
                <a:latin typeface="+mn-lt"/>
                <a:ea typeface="+mn-ea"/>
                <a:cs typeface="+mn-lt"/>
              </a:rPr>
              <a:t>38%</a:t>
            </a:r>
            <a:r>
              <a:rPr sz="1300">
                <a:solidFill>
                  <a:srgbClr val="FFFFFF"/>
                </a:solidFill>
                <a:latin typeface="+mn-lt"/>
                <a:ea typeface="+mn-ea"/>
                <a:cs typeface="+mn-lt"/>
              </a:rPr>
              <a:t> of new additions</a:t>
            </a:r>
          </a:p>
          <a:p>
            <a:pPr marL="152400" lvl="1" indent="-152400">
              <a:spcAft>
                <a:spcPts val="500"/>
              </a:spcAft>
              <a:buChar char="•"/>
            </a:pPr>
            <a:r>
              <a:rPr sz="1300">
                <a:solidFill>
                  <a:srgbClr val="FFFFFF"/>
                </a:solidFill>
                <a:latin typeface="+mn-lt"/>
                <a:ea typeface="+mn-ea"/>
                <a:cs typeface="+mn-lt"/>
              </a:rPr>
              <a:t>Notebook &amp; Peripherals tied at 18% each</a:t>
            </a:r>
          </a:p>
        </p:txBody>
      </p:sp>
      <p:sp>
        <p:nvSpPr>
          <p:cNvPr id="27" name="New shape"/>
          <p:cNvSpPr/>
          <p:nvPr>
            <p:custDataLst>
              <p:tags r:id="rId7"/>
            </p:custDataLst>
          </p:nvPr>
        </p:nvSpPr>
        <p:spPr>
          <a:xfrm>
            <a:off x="381000" y="5745480"/>
            <a:ext cx="11430000" cy="609600"/>
          </a:xfrm>
          <a:custGeom>
            <a:avLst/>
            <a:gdLst/>
            <a:ahLst/>
            <a:cxnLst/>
            <a:rect l="l" t="t" r="r" b="b"/>
            <a:pathLst>
              <a:path w="11430000" h="609600">
                <a:moveTo>
                  <a:pt x="0" y="0"/>
                </a:moveTo>
                <a:lnTo>
                  <a:pt x="11430000" y="0"/>
                </a:lnTo>
                <a:lnTo>
                  <a:pt x="11430000" y="609600"/>
                </a:lnTo>
                <a:lnTo>
                  <a:pt x="0" y="609600"/>
                </a:lnTo>
                <a:close/>
              </a:path>
            </a:pathLst>
          </a:custGeom>
          <a:gradFill>
            <a:gsLst>
              <a:gs pos="0">
                <a:srgbClr val="084032"/>
              </a:gs>
              <a:gs pos="100000">
                <a:srgbClr val="000000"/>
              </a:gs>
            </a:gsLst>
            <a:lin ang="2700000"/>
          </a:gradFill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8" name="Rectangle 27"/>
          <p:cNvSpPr/>
          <p:nvPr>
            <p:custDataLst>
              <p:tags r:id="rId8"/>
            </p:custDataLst>
          </p:nvPr>
        </p:nvSpPr>
        <p:spPr>
          <a:xfrm>
            <a:off x="571500" y="5745480"/>
            <a:ext cx="11049000" cy="6096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9pPr>
          </a:lstStyle>
          <a:p>
            <a:pPr marL="0">
              <a:spcBef>
                <a:spcPct val="21875"/>
              </a:spcBef>
              <a:spcAft>
                <a:spcPct val="21875"/>
              </a:spcAft>
            </a:pPr>
            <a:r>
              <a:rPr sz="1600">
                <a:solidFill>
                  <a:srgbClr val="FFFFFF"/>
                </a:solidFill>
                <a:latin typeface="+mn-lt"/>
                <a:ea typeface="+mn-ea"/>
                <a:cs typeface="+mn-lt"/>
              </a:rPr>
              <a:t>The 36% product portfolio expansion is heavily skewed toward Accessories — management should evaluate whether this concentration aligns with demand signals or reflects supply-side opportunism.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542598E4-87F2-6AF8-0FF6-9D90B6133C9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08503583"/>
              </p:ext>
            </p:extLst>
          </p:nvPr>
        </p:nvGraphicFramePr>
        <p:xfrm>
          <a:off x="1143000" y="1216158"/>
          <a:ext cx="5943600" cy="41178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37"/>
          <p:cNvSpPr txBox="1">
            <a:spLocks noGrp="1"/>
          </p:cNvSpPr>
          <p:nvPr>
            <p:ph type="body" sz="quarter" idx="11" hasCustomPrompt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sz="800">
                <a:latin typeface="+mn-lt"/>
                <a:ea typeface="+mn-ea"/>
                <a:cs typeface="+mn-lt"/>
              </a:rPr>
              <a:t>Source: AtliQ Hardwares database — dim_product table. </a:t>
            </a:r>
          </a:p>
        </p:txBody>
      </p:sp>
      <p:sp>
        <p:nvSpPr>
          <p:cNvPr id="2" name="Title 1"/>
          <p:cNvSpPr txBox="1">
            <a:spLocks noGrp="1"/>
          </p:cNvSpPr>
          <p:nvPr>
            <p:ph type="title" idx="10"/>
            <p:custDataLst>
              <p:tags r:id="rId2"/>
            </p:custDataLst>
          </p:nvPr>
        </p:nvSpPr>
        <p:spPr>
          <a:xfrm>
            <a:off x="228600" y="371694"/>
            <a:ext cx="11431802" cy="835157"/>
          </a:xfrm>
        </p:spPr>
        <p:txBody>
          <a:bodyPr lIns="0" rIns="0">
            <a:normAutofit/>
          </a:bodyPr>
          <a:lstStyle/>
          <a:p>
            <a:pPr lvl="0">
              <a:spcBef>
                <a:spcPct val="21875"/>
              </a:spcBef>
              <a:spcAft>
                <a:spcPct val="21875"/>
              </a:spcAft>
            </a:pPr>
            <a:r>
              <a:rPr lang="en-US" sz="2378" dirty="0">
                <a:latin typeface="+mj-lt"/>
                <a:cs typeface="+mj-lt"/>
              </a:rPr>
              <a:t> 3. Provide a report with all the unique product counts for each segment  and </a:t>
            </a:r>
            <a:br>
              <a:rPr lang="en-US" sz="2378" dirty="0">
                <a:latin typeface="+mj-lt"/>
                <a:cs typeface="+mj-lt"/>
              </a:rPr>
            </a:br>
            <a:r>
              <a:rPr lang="en-US" sz="2378" dirty="0">
                <a:latin typeface="+mj-lt"/>
                <a:cs typeface="+mj-lt"/>
              </a:rPr>
              <a:t>sort them in descending order of product counts. </a:t>
            </a:r>
            <a:endParaRPr lang="en-US" sz="2378" dirty="0">
              <a:latin typeface="+mj-lt"/>
              <a:ea typeface="+mj-ea"/>
              <a:cs typeface="+mj-lt"/>
            </a:endParaRPr>
          </a:p>
        </p:txBody>
      </p:sp>
      <p:sp>
        <p:nvSpPr>
          <p:cNvPr id="8" name="New shape"/>
          <p:cNvSpPr/>
          <p:nvPr>
            <p:custDataLst>
              <p:tags r:id="rId3"/>
            </p:custDataLst>
          </p:nvPr>
        </p:nvSpPr>
        <p:spPr>
          <a:xfrm>
            <a:off x="9448800" y="2130240"/>
            <a:ext cx="152400" cy="838200"/>
          </a:xfrm>
          <a:custGeom>
            <a:avLst/>
            <a:gdLst/>
            <a:ahLst/>
            <a:cxnLst/>
            <a:rect l="l" t="t" r="r" b="b"/>
            <a:pathLst>
              <a:path w="152400" h="838200">
                <a:moveTo>
                  <a:pt x="0" y="0"/>
                </a:moveTo>
                <a:cubicBezTo>
                  <a:pt x="50800" y="0"/>
                  <a:pt x="76200" y="25400"/>
                  <a:pt x="76200" y="76200"/>
                </a:cubicBezTo>
                <a:lnTo>
                  <a:pt x="76200" y="342900"/>
                </a:lnTo>
                <a:cubicBezTo>
                  <a:pt x="76200" y="393700"/>
                  <a:pt x="101600" y="419100"/>
                  <a:pt x="152400" y="419100"/>
                </a:cubicBezTo>
                <a:cubicBezTo>
                  <a:pt x="101600" y="419100"/>
                  <a:pt x="76200" y="444500"/>
                  <a:pt x="76200" y="495300"/>
                </a:cubicBezTo>
                <a:lnTo>
                  <a:pt x="76200" y="762000"/>
                </a:lnTo>
                <a:cubicBezTo>
                  <a:pt x="76200" y="812800"/>
                  <a:pt x="50800" y="838200"/>
                  <a:pt x="0" y="838200"/>
                </a:cubicBezTo>
              </a:path>
            </a:pathLst>
          </a:custGeom>
          <a:ln w="11430" cmpd="sng">
            <a:solidFill>
              <a:srgbClr val="000000"/>
            </a:solidFill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9" name="Rectangle 8"/>
          <p:cNvSpPr/>
          <p:nvPr>
            <p:custDataLst>
              <p:tags r:id="rId4"/>
            </p:custDataLst>
          </p:nvPr>
        </p:nvSpPr>
        <p:spPr>
          <a:xfrm>
            <a:off x="9753600" y="2396940"/>
            <a:ext cx="1524000" cy="3048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9pPr>
          </a:lstStyle>
          <a:p>
            <a:pPr marL="0">
              <a:spcBef>
                <a:spcPct val="21875"/>
              </a:spcBef>
              <a:spcAft>
                <a:spcPct val="21875"/>
              </a:spcAft>
            </a:pPr>
            <a:r>
              <a:rPr sz="1600" b="1" dirty="0">
                <a:solidFill>
                  <a:srgbClr val="000000"/>
                </a:solidFill>
                <a:latin typeface="+mn-lt"/>
                <a:ea typeface="+mn-ea"/>
                <a:cs typeface="+mn-lt"/>
              </a:rPr>
              <a:t>62% of portfolio</a:t>
            </a:r>
          </a:p>
        </p:txBody>
      </p:sp>
      <p:sp>
        <p:nvSpPr>
          <p:cNvPr id="12" name="New shape"/>
          <p:cNvSpPr/>
          <p:nvPr>
            <p:custDataLst>
              <p:tags r:id="rId5"/>
            </p:custDataLst>
          </p:nvPr>
        </p:nvSpPr>
        <p:spPr>
          <a:xfrm>
            <a:off x="3581400" y="4267200"/>
            <a:ext cx="152400" cy="838200"/>
          </a:xfrm>
          <a:custGeom>
            <a:avLst/>
            <a:gdLst/>
            <a:ahLst/>
            <a:cxnLst/>
            <a:rect l="l" t="t" r="r" b="b"/>
            <a:pathLst>
              <a:path w="152400" h="838200">
                <a:moveTo>
                  <a:pt x="0" y="0"/>
                </a:moveTo>
                <a:cubicBezTo>
                  <a:pt x="50800" y="0"/>
                  <a:pt x="76200" y="25400"/>
                  <a:pt x="76200" y="76200"/>
                </a:cubicBezTo>
                <a:lnTo>
                  <a:pt x="76200" y="342900"/>
                </a:lnTo>
                <a:cubicBezTo>
                  <a:pt x="76200" y="393700"/>
                  <a:pt x="101600" y="419100"/>
                  <a:pt x="152400" y="419100"/>
                </a:cubicBezTo>
                <a:cubicBezTo>
                  <a:pt x="101600" y="419100"/>
                  <a:pt x="76200" y="444500"/>
                  <a:pt x="76200" y="495300"/>
                </a:cubicBezTo>
                <a:lnTo>
                  <a:pt x="76200" y="762000"/>
                </a:lnTo>
                <a:cubicBezTo>
                  <a:pt x="76200" y="812800"/>
                  <a:pt x="50800" y="838200"/>
                  <a:pt x="0" y="838200"/>
                </a:cubicBezTo>
              </a:path>
            </a:pathLst>
          </a:custGeom>
          <a:ln w="11430" cmpd="sng">
            <a:solidFill>
              <a:srgbClr val="000000"/>
            </a:solidFill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3" name="Rectangle 12"/>
          <p:cNvSpPr/>
          <p:nvPr>
            <p:custDataLst>
              <p:tags r:id="rId6"/>
            </p:custDataLst>
          </p:nvPr>
        </p:nvSpPr>
        <p:spPr>
          <a:xfrm>
            <a:off x="3810000" y="4533900"/>
            <a:ext cx="1524000" cy="3048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9pPr>
          </a:lstStyle>
          <a:p>
            <a:pPr marL="0">
              <a:spcBef>
                <a:spcPct val="21875"/>
              </a:spcBef>
              <a:spcAft>
                <a:spcPct val="21875"/>
              </a:spcAft>
            </a:pPr>
            <a:r>
              <a:rPr sz="1600" b="1">
                <a:solidFill>
                  <a:srgbClr val="000000"/>
                </a:solidFill>
                <a:latin typeface="+mn-lt"/>
                <a:ea typeface="+mn-ea"/>
                <a:cs typeface="+mn-lt"/>
              </a:rPr>
              <a:t>9% of portfolio</a:t>
            </a:r>
          </a:p>
        </p:txBody>
      </p:sp>
      <p:sp>
        <p:nvSpPr>
          <p:cNvPr id="16" name="New shape"/>
          <p:cNvSpPr/>
          <p:nvPr>
            <p:custDataLst>
              <p:tags r:id="rId7"/>
            </p:custDataLst>
          </p:nvPr>
        </p:nvSpPr>
        <p:spPr>
          <a:xfrm>
            <a:off x="381000" y="5669280"/>
            <a:ext cx="11430000" cy="685800"/>
          </a:xfrm>
          <a:custGeom>
            <a:avLst/>
            <a:gdLst/>
            <a:ahLst/>
            <a:cxnLst/>
            <a:rect l="l" t="t" r="r" b="b"/>
            <a:pathLst>
              <a:path w="11430000" h="685800">
                <a:moveTo>
                  <a:pt x="0" y="0"/>
                </a:moveTo>
                <a:lnTo>
                  <a:pt x="11430000" y="0"/>
                </a:lnTo>
                <a:lnTo>
                  <a:pt x="11430000" y="685800"/>
                </a:lnTo>
                <a:lnTo>
                  <a:pt x="0" y="685800"/>
                </a:lnTo>
                <a:close/>
              </a:path>
            </a:pathLst>
          </a:custGeom>
          <a:gradFill>
            <a:gsLst>
              <a:gs pos="0">
                <a:srgbClr val="084032"/>
              </a:gs>
              <a:gs pos="100000">
                <a:srgbClr val="000000"/>
              </a:gs>
            </a:gsLst>
            <a:lin ang="2700000"/>
          </a:gradFill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7" name="Rectangle 16"/>
          <p:cNvSpPr/>
          <p:nvPr>
            <p:custDataLst>
              <p:tags r:id="rId8"/>
            </p:custDataLst>
          </p:nvPr>
        </p:nvSpPr>
        <p:spPr>
          <a:xfrm>
            <a:off x="609600" y="5669280"/>
            <a:ext cx="10972800" cy="6858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9pPr>
          </a:lstStyle>
          <a:p>
            <a:pPr marL="0">
              <a:spcBef>
                <a:spcPct val="21875"/>
              </a:spcBef>
              <a:spcAft>
                <a:spcPct val="21875"/>
              </a:spcAft>
            </a:pPr>
            <a:r>
              <a:rPr sz="1600">
                <a:solidFill>
                  <a:srgbClr val="FFFFFF"/>
                </a:solidFill>
                <a:latin typeface="+mn-lt"/>
                <a:ea typeface="+mn-ea"/>
                <a:cs typeface="+mn-lt"/>
              </a:rPr>
              <a:t>The </a:t>
            </a:r>
            <a:r>
              <a:rPr sz="1600" b="1">
                <a:solidFill>
                  <a:srgbClr val="FFFFFF"/>
                </a:solidFill>
                <a:latin typeface="+mn-lt"/>
                <a:ea typeface="+mn-ea"/>
                <a:cs typeface="+mn-lt"/>
              </a:rPr>
              <a:t>portfolio</a:t>
            </a:r>
            <a:r>
              <a:rPr sz="1600">
                <a:solidFill>
                  <a:srgbClr val="FFFFFF"/>
                </a:solidFill>
                <a:latin typeface="+mn-lt"/>
                <a:ea typeface="+mn-ea"/>
                <a:cs typeface="+mn-lt"/>
              </a:rPr>
              <a:t> is </a:t>
            </a:r>
            <a:r>
              <a:rPr sz="1600" b="1">
                <a:solidFill>
                  <a:srgbClr val="FFFFFF"/>
                </a:solidFill>
                <a:latin typeface="+mn-lt"/>
                <a:ea typeface="+mn-ea"/>
                <a:cs typeface="+mn-lt"/>
              </a:rPr>
              <a:t>top-heavy</a:t>
            </a:r>
            <a:r>
              <a:rPr sz="1600">
                <a:solidFill>
                  <a:srgbClr val="FFFFFF"/>
                </a:solidFill>
                <a:latin typeface="+mn-lt"/>
                <a:ea typeface="+mn-ea"/>
                <a:cs typeface="+mn-lt"/>
              </a:rPr>
              <a:t> — Notebook and Accessories together hold 62% of all products, while Storage and Networking remain underdeveloped at just 9%, signaling potential white-space opportunities. 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D249DD05-5E65-1F41-93C7-787316BD1A7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94903963"/>
              </p:ext>
            </p:extLst>
          </p:nvPr>
        </p:nvGraphicFramePr>
        <p:xfrm>
          <a:off x="685800" y="1385319"/>
          <a:ext cx="9829800" cy="3962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64466-81AF-CE67-7207-85913393E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58FC7-A6E4-3AD1-8BD1-CF3E652E3999}"/>
              </a:ext>
            </a:extLst>
          </p:cNvPr>
          <p:cNvSpPr txBox="1">
            <a:spLocks noGrp="1"/>
          </p:cNvSpPr>
          <p:nvPr>
            <p:ph type="title" idx="10"/>
            <p:custDataLst>
              <p:tags r:id="rId1"/>
            </p:custDataLst>
          </p:nvPr>
        </p:nvSpPr>
        <p:spPr/>
        <p:txBody>
          <a:bodyPr lIns="0" rIns="0">
            <a:normAutofit/>
          </a:bodyPr>
          <a:lstStyle/>
          <a:p>
            <a:pPr lvl="0">
              <a:spcBef>
                <a:spcPct val="21875"/>
              </a:spcBef>
              <a:spcAft>
                <a:spcPct val="21875"/>
              </a:spcAft>
            </a:pPr>
            <a:r>
              <a:rPr lang="en-US" sz="2378" dirty="0">
                <a:latin typeface="+mj-lt"/>
                <a:ea typeface="+mj-ea"/>
                <a:cs typeface="+mj-lt"/>
              </a:rPr>
              <a:t> </a:t>
            </a:r>
            <a:r>
              <a:rPr lang="en-US" sz="2378" dirty="0">
                <a:latin typeface="+mj-lt"/>
                <a:cs typeface="+mj-lt"/>
              </a:rPr>
              <a:t>4. Which segment had the most increase in unique products in </a:t>
            </a:r>
            <a:br>
              <a:rPr lang="en-US" sz="2378" dirty="0">
                <a:latin typeface="+mj-lt"/>
                <a:cs typeface="+mj-lt"/>
              </a:rPr>
            </a:br>
            <a:r>
              <a:rPr lang="en-US" sz="2378" dirty="0">
                <a:latin typeface="+mj-lt"/>
                <a:cs typeface="+mj-lt"/>
              </a:rPr>
              <a:t>      2021 vs 2020? </a:t>
            </a:r>
            <a:endParaRPr lang="en-US" sz="2378" dirty="0">
              <a:latin typeface="+mj-lt"/>
              <a:ea typeface="+mj-ea"/>
              <a:cs typeface="+mj-lt"/>
            </a:endParaRPr>
          </a:p>
        </p:txBody>
      </p:sp>
      <p:sp>
        <p:nvSpPr>
          <p:cNvPr id="16" name="New shape">
            <a:extLst>
              <a:ext uri="{FF2B5EF4-FFF2-40B4-BE49-F238E27FC236}">
                <a16:creationId xmlns:a16="http://schemas.microsoft.com/office/drawing/2014/main" id="{907AFC71-C884-7EFF-77DA-A158A2754A6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81000" y="5669280"/>
            <a:ext cx="11430000" cy="685800"/>
          </a:xfrm>
          <a:custGeom>
            <a:avLst/>
            <a:gdLst/>
            <a:ahLst/>
            <a:cxnLst/>
            <a:rect l="l" t="t" r="r" b="b"/>
            <a:pathLst>
              <a:path w="11430000" h="685800">
                <a:moveTo>
                  <a:pt x="0" y="0"/>
                </a:moveTo>
                <a:lnTo>
                  <a:pt x="11430000" y="0"/>
                </a:lnTo>
                <a:lnTo>
                  <a:pt x="11430000" y="685800"/>
                </a:lnTo>
                <a:lnTo>
                  <a:pt x="0" y="685800"/>
                </a:lnTo>
                <a:close/>
              </a:path>
            </a:pathLst>
          </a:custGeom>
          <a:gradFill>
            <a:gsLst>
              <a:gs pos="0">
                <a:srgbClr val="084032"/>
              </a:gs>
              <a:gs pos="100000">
                <a:srgbClr val="000000"/>
              </a:gs>
            </a:gsLst>
            <a:lin ang="2700000"/>
          </a:gradFill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9pPr>
          </a:lstStyle>
          <a:p>
            <a:pPr algn="ctr"/>
            <a:r>
              <a:rPr lang="en-IN" sz="1450" b="1" dirty="0">
                <a:solidFill>
                  <a:schemeClr val="bg1"/>
                </a:solidFill>
              </a:rPr>
              <a:t>Accessories experienced the greatest absolute increase</a:t>
            </a:r>
            <a:r>
              <a:rPr lang="en-IN" sz="1450" dirty="0">
                <a:solidFill>
                  <a:schemeClr val="bg1"/>
                </a:solidFill>
              </a:rPr>
              <a:t>, adding </a:t>
            </a:r>
            <a:r>
              <a:rPr lang="en-IN" sz="1450" b="1" dirty="0">
                <a:solidFill>
                  <a:schemeClr val="bg1"/>
                </a:solidFill>
              </a:rPr>
              <a:t>34 new unique products</a:t>
            </a:r>
            <a:r>
              <a:rPr lang="en-IN" sz="1450" dirty="0">
                <a:solidFill>
                  <a:schemeClr val="bg1"/>
                </a:solidFill>
              </a:rPr>
              <a:t> in 2021. Although Desktop had the highest percentage growth of 214.3 %, Notebook remained the segment with the highest number of unique products in 2021, at </a:t>
            </a:r>
            <a:r>
              <a:rPr lang="en-IN" sz="1450" b="1" dirty="0">
                <a:solidFill>
                  <a:schemeClr val="bg1"/>
                </a:solidFill>
              </a:rPr>
              <a:t>108</a:t>
            </a:r>
            <a:r>
              <a:rPr lang="en-IN" sz="1450" dirty="0">
                <a:solidFill>
                  <a:schemeClr val="bg1"/>
                </a:solidFill>
              </a:rPr>
              <a:t>.</a:t>
            </a:r>
            <a:endParaRPr sz="1450" dirty="0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78F8870-8751-50C0-ADBC-96022818516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609600" y="5669280"/>
            <a:ext cx="10972800" cy="6858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9pPr>
          </a:lstStyle>
          <a:p>
            <a:pPr marL="0">
              <a:spcBef>
                <a:spcPct val="21875"/>
              </a:spcBef>
              <a:spcAft>
                <a:spcPct val="21875"/>
              </a:spcAft>
            </a:pPr>
            <a:endParaRPr sz="1600" dirty="0">
              <a:solidFill>
                <a:srgbClr val="FFFFFF"/>
              </a:solidFill>
              <a:latin typeface="+mn-lt"/>
              <a:ea typeface="+mn-ea"/>
              <a:cs typeface="+mn-lt"/>
            </a:endParaRPr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7024D885-3C41-59B3-362D-C50FF7E41C2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07230924"/>
              </p:ext>
            </p:extLst>
          </p:nvPr>
        </p:nvGraphicFramePr>
        <p:xfrm>
          <a:off x="533400" y="1371600"/>
          <a:ext cx="10744200" cy="388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01405837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New picture"/>
          <p:cNvPicPr/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679733" y="1702674"/>
            <a:ext cx="7162800" cy="4953000"/>
          </a:xfrm>
          <a:prstGeom prst="rect">
            <a:avLst/>
          </a:prstGeom>
        </p:spPr>
      </p:pic>
      <p:sp>
        <p:nvSpPr>
          <p:cNvPr id="7" name="Rectangle 6"/>
          <p:cNvSpPr/>
          <p:nvPr>
            <p:custDataLst>
              <p:tags r:id="rId2"/>
            </p:custDataLst>
          </p:nvPr>
        </p:nvSpPr>
        <p:spPr>
          <a:xfrm>
            <a:off x="415156" y="304800"/>
            <a:ext cx="9795643" cy="7620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9pPr>
          </a:lstStyle>
          <a:p>
            <a:pPr>
              <a:spcBef>
                <a:spcPct val="21875"/>
              </a:spcBef>
              <a:spcAft>
                <a:spcPct val="21875"/>
              </a:spcAft>
            </a:pPr>
            <a:r>
              <a:rPr lang="en-US" sz="2380" b="1" dirty="0">
                <a:solidFill>
                  <a:srgbClr val="000000"/>
                </a:solidFill>
                <a:latin typeface="Cambria Headings"/>
                <a:ea typeface="+mn-ea"/>
                <a:cs typeface="+mn-lt"/>
              </a:rPr>
              <a:t>5.  Get the products that have the highest and lowest manufacturing costs.</a:t>
            </a:r>
            <a:endParaRPr sz="2380" b="1" dirty="0">
              <a:solidFill>
                <a:srgbClr val="000000"/>
              </a:solidFill>
              <a:latin typeface="Cambria Headings"/>
              <a:ea typeface="+mn-ea"/>
              <a:cs typeface="+mn-lt"/>
            </a:endParaRPr>
          </a:p>
        </p:txBody>
      </p:sp>
      <p:sp>
        <p:nvSpPr>
          <p:cNvPr id="8" name="Rectangle 7"/>
          <p:cNvSpPr/>
          <p:nvPr>
            <p:custDataLst>
              <p:tags r:id="rId3"/>
            </p:custDataLst>
          </p:nvPr>
        </p:nvSpPr>
        <p:spPr>
          <a:xfrm>
            <a:off x="685800" y="2667000"/>
            <a:ext cx="6705600" cy="19050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9pPr>
          </a:lstStyle>
          <a:p>
            <a:pPr marL="0">
              <a:spcBef>
                <a:spcPct val="21875"/>
              </a:spcBef>
              <a:spcAft>
                <a:spcPct val="21875"/>
              </a:spcAft>
            </a:pPr>
            <a:r>
              <a:rPr sz="2400" dirty="0">
                <a:solidFill>
                  <a:srgbClr val="000000"/>
                </a:solidFill>
                <a:latin typeface="+mn-lt"/>
                <a:ea typeface="+mn-ea"/>
                <a:cs typeface="+mn-lt"/>
              </a:rPr>
              <a:t>₹2</a:t>
            </a:r>
            <a:r>
              <a:rPr lang="en-IN" sz="2400" dirty="0">
                <a:solidFill>
                  <a:srgbClr val="000000"/>
                </a:solidFill>
                <a:latin typeface="+mn-lt"/>
                <a:ea typeface="+mn-ea"/>
                <a:cs typeface="+mn-lt"/>
              </a:rPr>
              <a:t>63</a:t>
            </a:r>
            <a:r>
              <a:rPr sz="2400" dirty="0">
                <a:solidFill>
                  <a:srgbClr val="000000"/>
                </a:solidFill>
                <a:latin typeface="+mn-lt"/>
                <a:ea typeface="+mn-ea"/>
                <a:cs typeface="+mn-lt"/>
              </a:rPr>
              <a:t>.</a:t>
            </a:r>
            <a:r>
              <a:rPr lang="en-IN" sz="2400" dirty="0">
                <a:solidFill>
                  <a:srgbClr val="000000"/>
                </a:solidFill>
                <a:latin typeface="+mn-lt"/>
                <a:ea typeface="+mn-ea"/>
                <a:cs typeface="+mn-lt"/>
              </a:rPr>
              <a:t>4</a:t>
            </a:r>
            <a:r>
              <a:rPr sz="2400" dirty="0">
                <a:solidFill>
                  <a:srgbClr val="000000"/>
                </a:solidFill>
                <a:latin typeface="+mn-lt"/>
                <a:ea typeface="+mn-ea"/>
                <a:cs typeface="+mn-lt"/>
              </a:rPr>
              <a:t> per unit (AQ HOME Allin1 Gen 2) vs. ₹0.</a:t>
            </a:r>
            <a:r>
              <a:rPr lang="en-IN" sz="2400" dirty="0">
                <a:solidFill>
                  <a:srgbClr val="000000"/>
                </a:solidFill>
                <a:latin typeface="+mn-lt"/>
                <a:ea typeface="+mn-ea"/>
                <a:cs typeface="+mn-lt"/>
              </a:rPr>
              <a:t>86</a:t>
            </a:r>
            <a:r>
              <a:rPr sz="2400" dirty="0">
                <a:solidFill>
                  <a:srgbClr val="000000"/>
                </a:solidFill>
                <a:latin typeface="+mn-lt"/>
                <a:ea typeface="+mn-ea"/>
                <a:cs typeface="+mn-lt"/>
              </a:rPr>
              <a:t> per unit (AQ Master wired x1 </a:t>
            </a:r>
            <a:r>
              <a:rPr sz="2400" dirty="0" err="1">
                <a:solidFill>
                  <a:srgbClr val="000000"/>
                </a:solidFill>
                <a:latin typeface="+mn-lt"/>
                <a:ea typeface="+mn-ea"/>
                <a:cs typeface="+mn-lt"/>
              </a:rPr>
              <a:t>Ms</a:t>
            </a:r>
            <a:r>
              <a:rPr sz="2400" dirty="0">
                <a:solidFill>
                  <a:srgbClr val="000000"/>
                </a:solidFill>
                <a:latin typeface="+mn-lt"/>
                <a:ea typeface="+mn-ea"/>
                <a:cs typeface="+mn-lt"/>
              </a:rPr>
              <a:t>) — one desktop costs as much to manufacture as 26</a:t>
            </a:r>
            <a:r>
              <a:rPr lang="en-US" sz="2400" dirty="0">
                <a:solidFill>
                  <a:srgbClr val="000000"/>
                </a:solidFill>
                <a:latin typeface="+mn-lt"/>
                <a:ea typeface="+mn-ea"/>
                <a:cs typeface="+mn-lt"/>
              </a:rPr>
              <a:t>3</a:t>
            </a:r>
            <a:r>
              <a:rPr sz="2400" dirty="0">
                <a:solidFill>
                  <a:srgbClr val="000000"/>
                </a:solidFill>
                <a:latin typeface="+mn-lt"/>
                <a:ea typeface="+mn-ea"/>
                <a:cs typeface="+mn-lt"/>
              </a:rPr>
              <a:t> accessories.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61DB91E-00EA-4B12-11F4-1C39AF7CE3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77857"/>
              </p:ext>
            </p:extLst>
          </p:nvPr>
        </p:nvGraphicFramePr>
        <p:xfrm>
          <a:off x="762000" y="1356360"/>
          <a:ext cx="4114800" cy="853440"/>
        </p:xfrm>
        <a:graphic>
          <a:graphicData uri="http://schemas.openxmlformats.org/drawingml/2006/table">
            <a:tbl>
              <a:tblPr/>
              <a:tblGrid>
                <a:gridCol w="1414868">
                  <a:extLst>
                    <a:ext uri="{9D8B030D-6E8A-4147-A177-3AD203B41FA5}">
                      <a16:colId xmlns:a16="http://schemas.microsoft.com/office/drawing/2014/main" val="4028739386"/>
                    </a:ext>
                  </a:extLst>
                </a:gridCol>
                <a:gridCol w="1427849">
                  <a:extLst>
                    <a:ext uri="{9D8B030D-6E8A-4147-A177-3AD203B41FA5}">
                      <a16:colId xmlns:a16="http://schemas.microsoft.com/office/drawing/2014/main" val="353996374"/>
                    </a:ext>
                  </a:extLst>
                </a:gridCol>
                <a:gridCol w="1272083">
                  <a:extLst>
                    <a:ext uri="{9D8B030D-6E8A-4147-A177-3AD203B41FA5}">
                      <a16:colId xmlns:a16="http://schemas.microsoft.com/office/drawing/2014/main" val="1672815293"/>
                    </a:ext>
                  </a:extLst>
                </a:gridCol>
              </a:tblGrid>
              <a:tr h="2844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product_code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product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manufacturing_cost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5271683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A6121110208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AQ HOME Allin1 Gen 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263.42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2612944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A2118150101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AQ Master wired x1 Ms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0.8654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6365034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10"/>
            <p:custDataLst>
              <p:tags r:id="rId1"/>
            </p:custDataLst>
          </p:nvPr>
        </p:nvSpPr>
        <p:spPr/>
        <p:txBody>
          <a:bodyPr lIns="0" rIns="0">
            <a:normAutofit fontScale="90000"/>
          </a:bodyPr>
          <a:lstStyle/>
          <a:p>
            <a:pPr lvl="0">
              <a:spcBef>
                <a:spcPct val="21875"/>
              </a:spcBef>
              <a:spcAft>
                <a:spcPct val="21875"/>
              </a:spcAft>
            </a:pPr>
            <a:r>
              <a:rPr lang="en-US" sz="2378" dirty="0">
                <a:latin typeface="+mj-lt"/>
                <a:cs typeface="+mj-lt"/>
              </a:rPr>
              <a:t> 6.  Generate a report which contains the top 5 customers who received an </a:t>
            </a:r>
            <a:br>
              <a:rPr lang="en-US" sz="2378" dirty="0">
                <a:latin typeface="+mj-lt"/>
                <a:cs typeface="+mj-lt"/>
              </a:rPr>
            </a:br>
            <a:r>
              <a:rPr lang="en-US" sz="2378" dirty="0">
                <a:latin typeface="+mj-lt"/>
                <a:cs typeface="+mj-lt"/>
              </a:rPr>
              <a:t>       average high  pre invoice discount pct  for the  fiscal  year 2021  and in the </a:t>
            </a:r>
            <a:br>
              <a:rPr lang="en-US" sz="2378" dirty="0">
                <a:latin typeface="+mj-lt"/>
                <a:cs typeface="+mj-lt"/>
              </a:rPr>
            </a:br>
            <a:r>
              <a:rPr lang="en-US" sz="2378" dirty="0">
                <a:latin typeface="+mj-lt"/>
                <a:cs typeface="+mj-lt"/>
              </a:rPr>
              <a:t>       Indian market. </a:t>
            </a:r>
            <a:endParaRPr lang="en-US" sz="2378" dirty="0">
              <a:latin typeface="+mj-lt"/>
              <a:ea typeface="+mj-ea"/>
              <a:cs typeface="+mj-lt"/>
            </a:endParaRPr>
          </a:p>
        </p:txBody>
      </p:sp>
      <p:sp>
        <p:nvSpPr>
          <p:cNvPr id="8" name="New shape"/>
          <p:cNvSpPr/>
          <p:nvPr>
            <p:custDataLst>
              <p:tags r:id="rId2"/>
            </p:custDataLst>
          </p:nvPr>
        </p:nvSpPr>
        <p:spPr>
          <a:xfrm>
            <a:off x="7989176" y="1225296"/>
            <a:ext cx="3657600" cy="4407408"/>
          </a:xfrm>
          <a:custGeom>
            <a:avLst/>
            <a:gdLst/>
            <a:ahLst/>
            <a:cxnLst/>
            <a:rect l="l" t="t" r="r" b="b"/>
            <a:pathLst>
              <a:path w="3657600" h="4407407">
                <a:moveTo>
                  <a:pt x="0" y="0"/>
                </a:moveTo>
                <a:lnTo>
                  <a:pt x="3657600" y="0"/>
                </a:lnTo>
                <a:lnTo>
                  <a:pt x="3657600" y="4407407"/>
                </a:lnTo>
                <a:lnTo>
                  <a:pt x="0" y="4407407"/>
                </a:lnTo>
                <a:close/>
              </a:path>
            </a:pathLst>
          </a:custGeom>
          <a:gradFill>
            <a:gsLst>
              <a:gs pos="0">
                <a:srgbClr val="084032"/>
              </a:gs>
              <a:gs pos="100000">
                <a:srgbClr val="000000"/>
              </a:gs>
            </a:gsLst>
            <a:lin ang="2700000"/>
          </a:gradFill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9pPr>
          </a:lstStyle>
          <a:p>
            <a:endParaRPr lang="en-IN" sz="1200" b="1" dirty="0">
              <a:solidFill>
                <a:schemeClr val="bg1"/>
              </a:solidFill>
            </a:endParaRPr>
          </a:p>
          <a:p>
            <a:endParaRPr lang="en-IN" sz="1200" b="1" dirty="0">
              <a:solidFill>
                <a:schemeClr val="bg1"/>
              </a:solidFill>
            </a:endParaRPr>
          </a:p>
          <a:p>
            <a:endParaRPr lang="en-IN" sz="1200" b="1" dirty="0">
              <a:solidFill>
                <a:schemeClr val="bg1"/>
              </a:solidFill>
            </a:endParaRPr>
          </a:p>
          <a:p>
            <a:endParaRPr lang="en-IN" sz="1300" b="1" dirty="0">
              <a:solidFill>
                <a:schemeClr val="bg1"/>
              </a:solidFill>
            </a:endParaRPr>
          </a:p>
          <a:p>
            <a:endParaRPr lang="en-IN" sz="1300" b="1" dirty="0">
              <a:solidFill>
                <a:schemeClr val="bg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300" b="1" dirty="0">
                <a:solidFill>
                  <a:schemeClr val="bg1"/>
                </a:solidFill>
              </a:rPr>
              <a:t>Flipkart</a:t>
            </a:r>
            <a:r>
              <a:rPr lang="en-IN" sz="1300" dirty="0">
                <a:solidFill>
                  <a:schemeClr val="bg1"/>
                </a:solidFill>
              </a:rPr>
              <a:t> offers the highest average discount at </a:t>
            </a:r>
            <a:r>
              <a:rPr lang="en-IN" sz="1300" b="1" dirty="0">
                <a:solidFill>
                  <a:schemeClr val="bg1"/>
                </a:solidFill>
              </a:rPr>
              <a:t>30.83%</a:t>
            </a:r>
            <a:r>
              <a:rPr lang="en-IN" sz="1300" dirty="0">
                <a:solidFill>
                  <a:schemeClr val="bg1"/>
                </a:solidFill>
              </a:rPr>
              <a:t>, making it the most discount-heavy customer among the listed customers.</a:t>
            </a:r>
          </a:p>
          <a:p>
            <a:pPr lvl="0"/>
            <a:endParaRPr lang="en-IN" sz="1300" dirty="0">
              <a:solidFill>
                <a:schemeClr val="bg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300" b="1" dirty="0">
                <a:solidFill>
                  <a:schemeClr val="bg1"/>
                </a:solidFill>
              </a:rPr>
              <a:t>Vivek's</a:t>
            </a:r>
            <a:r>
              <a:rPr lang="en-IN" sz="1300" dirty="0">
                <a:solidFill>
                  <a:schemeClr val="bg1"/>
                </a:solidFill>
              </a:rPr>
              <a:t> ranks second with an average discount of </a:t>
            </a:r>
            <a:r>
              <a:rPr lang="en-IN" sz="1300" b="1" dirty="0">
                <a:solidFill>
                  <a:schemeClr val="bg1"/>
                </a:solidFill>
              </a:rPr>
              <a:t>30.38%</a:t>
            </a:r>
            <a:r>
              <a:rPr lang="en-IN" sz="1300" dirty="0">
                <a:solidFill>
                  <a:schemeClr val="bg1"/>
                </a:solidFill>
              </a:rPr>
              <a:t>.</a:t>
            </a:r>
          </a:p>
          <a:p>
            <a:pPr lvl="0"/>
            <a:endParaRPr lang="en-IN" sz="1300" dirty="0">
              <a:solidFill>
                <a:schemeClr val="bg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300" b="1" dirty="0">
                <a:solidFill>
                  <a:schemeClr val="bg1"/>
                </a:solidFill>
              </a:rPr>
              <a:t>Ezone</a:t>
            </a:r>
            <a:r>
              <a:rPr lang="en-IN" sz="1300" dirty="0">
                <a:solidFill>
                  <a:schemeClr val="bg1"/>
                </a:solidFill>
              </a:rPr>
              <a:t> and </a:t>
            </a:r>
            <a:r>
              <a:rPr lang="en-IN" sz="1300" b="1" dirty="0">
                <a:solidFill>
                  <a:schemeClr val="bg1"/>
                </a:solidFill>
              </a:rPr>
              <a:t>Croma</a:t>
            </a:r>
            <a:r>
              <a:rPr lang="en-IN" sz="1300" dirty="0">
                <a:solidFill>
                  <a:schemeClr val="bg1"/>
                </a:solidFill>
              </a:rPr>
              <a:t> have very similar average discounts of </a:t>
            </a:r>
            <a:r>
              <a:rPr lang="en-IN" sz="1300" b="1" dirty="0">
                <a:solidFill>
                  <a:schemeClr val="bg1"/>
                </a:solidFill>
              </a:rPr>
              <a:t>30.28%</a:t>
            </a:r>
            <a:r>
              <a:rPr lang="en-IN" sz="1300" dirty="0">
                <a:solidFill>
                  <a:schemeClr val="bg1"/>
                </a:solidFill>
              </a:rPr>
              <a:t> and </a:t>
            </a:r>
            <a:r>
              <a:rPr lang="en-IN" sz="1300" b="1" dirty="0">
                <a:solidFill>
                  <a:schemeClr val="bg1"/>
                </a:solidFill>
              </a:rPr>
              <a:t>30.25%</a:t>
            </a:r>
            <a:r>
              <a:rPr lang="en-IN" sz="1300" dirty="0">
                <a:solidFill>
                  <a:schemeClr val="bg1"/>
                </a:solidFill>
              </a:rPr>
              <a:t>, respectively.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300" b="1" dirty="0">
                <a:solidFill>
                  <a:schemeClr val="bg1"/>
                </a:solidFill>
              </a:rPr>
              <a:t>Amazon</a:t>
            </a:r>
            <a:r>
              <a:rPr lang="en-IN" sz="1300" dirty="0">
                <a:solidFill>
                  <a:schemeClr val="bg1"/>
                </a:solidFill>
              </a:rPr>
              <a:t> has the lowest average discount among the top 5, at </a:t>
            </a:r>
            <a:r>
              <a:rPr lang="en-IN" sz="1300" b="1" dirty="0">
                <a:solidFill>
                  <a:schemeClr val="bg1"/>
                </a:solidFill>
              </a:rPr>
              <a:t>29.33%</a:t>
            </a:r>
            <a:r>
              <a:rPr lang="en-IN" sz="1300" dirty="0">
                <a:solidFill>
                  <a:schemeClr val="bg1"/>
                </a:solidFill>
              </a:rPr>
              <a:t>.</a:t>
            </a:r>
          </a:p>
          <a:p>
            <a:pPr lvl="0"/>
            <a:endParaRPr lang="en-IN" sz="1300" dirty="0">
              <a:solidFill>
                <a:schemeClr val="bg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300" dirty="0">
                <a:solidFill>
                  <a:schemeClr val="bg1"/>
                </a:solidFill>
              </a:rPr>
              <a:t>Overall, the average discounts are </a:t>
            </a:r>
            <a:r>
              <a:rPr lang="en-IN" sz="1300" b="1" dirty="0">
                <a:solidFill>
                  <a:schemeClr val="bg1"/>
                </a:solidFill>
              </a:rPr>
              <a:t>closely clustered around 29–31%</a:t>
            </a:r>
            <a:r>
              <a:rPr lang="en-IN" sz="1300" dirty="0">
                <a:solidFill>
                  <a:schemeClr val="bg1"/>
                </a:solidFill>
              </a:rPr>
              <a:t>, indicating relatively consistent discounting across these major customers.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200" dirty="0">
              <a:solidFill>
                <a:schemeClr val="bg1"/>
              </a:solidFill>
            </a:endParaRPr>
          </a:p>
          <a:p>
            <a:pPr algn="ctr"/>
            <a:endParaRPr dirty="0"/>
          </a:p>
        </p:txBody>
      </p:sp>
      <p:sp>
        <p:nvSpPr>
          <p:cNvPr id="9" name="Rectangle 8"/>
          <p:cNvSpPr/>
          <p:nvPr>
            <p:custDataLst>
              <p:tags r:id="rId3"/>
            </p:custDataLst>
          </p:nvPr>
        </p:nvSpPr>
        <p:spPr>
          <a:xfrm>
            <a:off x="8343900" y="1414272"/>
            <a:ext cx="3276600" cy="3048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9pPr>
          </a:lstStyle>
          <a:p>
            <a:pPr marL="0">
              <a:spcBef>
                <a:spcPct val="21875"/>
              </a:spcBef>
              <a:spcAft>
                <a:spcPct val="21875"/>
              </a:spcAft>
            </a:pPr>
            <a:r>
              <a:rPr sz="1900" b="1" dirty="0">
                <a:solidFill>
                  <a:srgbClr val="FFFFFF"/>
                </a:solidFill>
                <a:latin typeface="+mn-lt"/>
                <a:ea typeface="+mn-ea"/>
                <a:cs typeface="+mn-lt"/>
              </a:rPr>
              <a:t>Key Observations </a:t>
            </a:r>
          </a:p>
        </p:txBody>
      </p:sp>
      <p:sp>
        <p:nvSpPr>
          <p:cNvPr id="10" name="Rectangle 9"/>
          <p:cNvSpPr/>
          <p:nvPr>
            <p:custDataLst>
              <p:tags r:id="rId4"/>
            </p:custDataLst>
          </p:nvPr>
        </p:nvSpPr>
        <p:spPr>
          <a:xfrm>
            <a:off x="8343900" y="1871472"/>
            <a:ext cx="3276600" cy="19050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9pPr>
          </a:lstStyle>
          <a:p>
            <a:pPr marL="152400" lvl="1" indent="-152400">
              <a:spcAft>
                <a:spcPts val="500"/>
              </a:spcAft>
              <a:buChar char="•"/>
            </a:pPr>
            <a:endParaRPr sz="1400" dirty="0">
              <a:solidFill>
                <a:srgbClr val="FFFFFF"/>
              </a:solidFill>
              <a:latin typeface="+mn-lt"/>
              <a:ea typeface="+mn-ea"/>
              <a:cs typeface="+mn-lt"/>
            </a:endParaRPr>
          </a:p>
        </p:txBody>
      </p:sp>
      <p:sp>
        <p:nvSpPr>
          <p:cNvPr id="16" name="New shape"/>
          <p:cNvSpPr/>
          <p:nvPr>
            <p:custDataLst>
              <p:tags r:id="rId5"/>
            </p:custDataLst>
          </p:nvPr>
        </p:nvSpPr>
        <p:spPr>
          <a:xfrm>
            <a:off x="381000" y="5745480"/>
            <a:ext cx="11430000" cy="609600"/>
          </a:xfrm>
          <a:custGeom>
            <a:avLst/>
            <a:gdLst/>
            <a:ahLst/>
            <a:cxnLst/>
            <a:rect l="l" t="t" r="r" b="b"/>
            <a:pathLst>
              <a:path w="11430000" h="609600">
                <a:moveTo>
                  <a:pt x="0" y="0"/>
                </a:moveTo>
                <a:lnTo>
                  <a:pt x="11430000" y="0"/>
                </a:lnTo>
                <a:lnTo>
                  <a:pt x="11430000" y="609600"/>
                </a:lnTo>
                <a:lnTo>
                  <a:pt x="0" y="609600"/>
                </a:lnTo>
                <a:close/>
              </a:path>
            </a:pathLst>
          </a:custGeom>
          <a:gradFill>
            <a:gsLst>
              <a:gs pos="0">
                <a:srgbClr val="084032"/>
              </a:gs>
              <a:gs pos="100000">
                <a:srgbClr val="000000"/>
              </a:gs>
            </a:gsLst>
            <a:lin ang="2700000"/>
          </a:gradFill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7" name="Rectangle 16"/>
          <p:cNvSpPr/>
          <p:nvPr>
            <p:custDataLst>
              <p:tags r:id="rId6"/>
            </p:custDataLst>
          </p:nvPr>
        </p:nvSpPr>
        <p:spPr>
          <a:xfrm>
            <a:off x="381000" y="5745480"/>
            <a:ext cx="11430000" cy="6096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9pPr>
          </a:lstStyle>
          <a:p>
            <a:pPr marL="0" algn="ctr">
              <a:spcBef>
                <a:spcPct val="21875"/>
              </a:spcBef>
              <a:spcAft>
                <a:spcPct val="21875"/>
              </a:spcAft>
            </a:pPr>
            <a:r>
              <a:rPr sz="1600">
                <a:solidFill>
                  <a:srgbClr val="FFFFFF"/>
                </a:solidFill>
                <a:latin typeface="+mn-lt"/>
                <a:ea typeface="+mn-ea"/>
                <a:cs typeface="+mn-lt"/>
              </a:rPr>
              <a:t>Pre-invoice discounts above 30% for top retailers compress margins significantly — AtliQ should evaluate whether volume commitments from these customers justify the discount levels or if renegotiation is warranted. </a:t>
            </a:r>
          </a:p>
        </p:txBody>
      </p:sp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FCE5347C-F8E1-826D-5C94-0AE6BD864F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0221570"/>
              </p:ext>
            </p:extLst>
          </p:nvPr>
        </p:nvGraphicFramePr>
        <p:xfrm>
          <a:off x="457201" y="1566672"/>
          <a:ext cx="7010400" cy="19385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8" imgW="4107145" imgH="1104935" progId="Excel.Sheet.12">
                  <p:embed/>
                </p:oleObj>
              </mc:Choice>
              <mc:Fallback>
                <p:oleObj name="Worksheet" r:id="rId8" imgW="4107145" imgH="1104935" progId="Excel.Sheet.12">
                  <p:embed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FCE5347C-F8E1-826D-5C94-0AE6BD864F2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57201" y="1566672"/>
                        <a:ext cx="7010400" cy="19385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10"/>
            <p:custDataLst>
              <p:tags r:id="rId1"/>
            </p:custDataLst>
          </p:nvPr>
        </p:nvSpPr>
        <p:spPr/>
        <p:txBody>
          <a:bodyPr lIns="0" rIns="0">
            <a:normAutofit/>
          </a:bodyPr>
          <a:lstStyle/>
          <a:p>
            <a:pPr lvl="0">
              <a:spcBef>
                <a:spcPct val="21875"/>
              </a:spcBef>
              <a:spcAft>
                <a:spcPct val="21875"/>
              </a:spcAft>
            </a:pPr>
            <a:r>
              <a:rPr lang="en-US" sz="2378" dirty="0">
                <a:latin typeface="+mj-lt"/>
                <a:cs typeface="+mj-lt"/>
              </a:rPr>
              <a:t> 7.  Get the complete report of the Gross sales amount for the customer “</a:t>
            </a:r>
            <a:r>
              <a:rPr lang="en-US" sz="2378" dirty="0" err="1">
                <a:latin typeface="+mj-lt"/>
                <a:cs typeface="+mj-lt"/>
              </a:rPr>
              <a:t>Atliq</a:t>
            </a:r>
            <a:r>
              <a:rPr lang="en-US" sz="2378" dirty="0">
                <a:latin typeface="+mj-lt"/>
                <a:cs typeface="+mj-lt"/>
              </a:rPr>
              <a:t> </a:t>
            </a:r>
            <a:br>
              <a:rPr lang="en-US" sz="2378" dirty="0">
                <a:latin typeface="+mj-lt"/>
                <a:cs typeface="+mj-lt"/>
              </a:rPr>
            </a:br>
            <a:r>
              <a:rPr lang="en-US" sz="2378" dirty="0">
                <a:latin typeface="+mj-lt"/>
                <a:cs typeface="+mj-lt"/>
              </a:rPr>
              <a:t>       Exclusive” for each month </a:t>
            </a:r>
            <a:endParaRPr lang="en-US" sz="2378" dirty="0">
              <a:latin typeface="+mj-lt"/>
              <a:ea typeface="+mj-ea"/>
              <a:cs typeface="+mj-lt"/>
            </a:endParaRPr>
          </a:p>
        </p:txBody>
      </p:sp>
      <p:sp>
        <p:nvSpPr>
          <p:cNvPr id="15" name="New shape"/>
          <p:cNvSpPr/>
          <p:nvPr>
            <p:custDataLst>
              <p:tags r:id="rId2"/>
            </p:custDataLst>
          </p:nvPr>
        </p:nvSpPr>
        <p:spPr>
          <a:xfrm>
            <a:off x="8144114" y="1190415"/>
            <a:ext cx="143114" cy="136030"/>
          </a:xfrm>
          <a:custGeom>
            <a:avLst/>
            <a:gdLst/>
            <a:ahLst/>
            <a:cxnLst/>
            <a:rect l="l" t="t" r="r" b="b"/>
            <a:pathLst>
              <a:path w="204850" h="158174">
                <a:moveTo>
                  <a:pt x="202485" y="0"/>
                </a:moveTo>
                <a:cubicBezTo>
                  <a:pt x="203535" y="647"/>
                  <a:pt x="204435" y="1409"/>
                  <a:pt x="204766" y="2632"/>
                </a:cubicBezTo>
                <a:cubicBezTo>
                  <a:pt x="204789" y="2839"/>
                  <a:pt x="204806" y="3046"/>
                  <a:pt x="204818" y="3253"/>
                </a:cubicBezTo>
                <a:cubicBezTo>
                  <a:pt x="204824" y="3314"/>
                  <a:pt x="204824" y="3314"/>
                  <a:pt x="204850" y="3622"/>
                </a:cubicBezTo>
                <a:cubicBezTo>
                  <a:pt x="204988" y="5727"/>
                  <a:pt x="204890" y="7854"/>
                  <a:pt x="204835" y="9962"/>
                </a:cubicBezTo>
                <a:cubicBezTo>
                  <a:pt x="204821" y="10624"/>
                  <a:pt x="204806" y="11286"/>
                  <a:pt x="204792" y="11947"/>
                </a:cubicBezTo>
                <a:cubicBezTo>
                  <a:pt x="204766" y="13064"/>
                  <a:pt x="204740" y="14183"/>
                  <a:pt x="204711" y="15299"/>
                </a:cubicBezTo>
                <a:cubicBezTo>
                  <a:pt x="204686" y="16424"/>
                  <a:pt x="204657" y="17546"/>
                  <a:pt x="204634" y="18671"/>
                </a:cubicBezTo>
                <a:cubicBezTo>
                  <a:pt x="204513" y="24272"/>
                  <a:pt x="204372" y="29871"/>
                  <a:pt x="204073" y="35464"/>
                </a:cubicBezTo>
                <a:cubicBezTo>
                  <a:pt x="204056" y="35792"/>
                  <a:pt x="204038" y="36117"/>
                  <a:pt x="204024" y="36445"/>
                </a:cubicBezTo>
                <a:cubicBezTo>
                  <a:pt x="203834" y="40185"/>
                  <a:pt x="203834" y="40185"/>
                  <a:pt x="203500" y="42011"/>
                </a:cubicBezTo>
                <a:cubicBezTo>
                  <a:pt x="203483" y="42127"/>
                  <a:pt x="203463" y="42239"/>
                  <a:pt x="203443" y="42354"/>
                </a:cubicBezTo>
                <a:cubicBezTo>
                  <a:pt x="203273" y="43165"/>
                  <a:pt x="202954" y="43556"/>
                  <a:pt x="202315" y="44083"/>
                </a:cubicBezTo>
                <a:cubicBezTo>
                  <a:pt x="201650" y="44241"/>
                  <a:pt x="201187" y="44112"/>
                  <a:pt x="200589" y="43795"/>
                </a:cubicBezTo>
                <a:cubicBezTo>
                  <a:pt x="199530" y="42095"/>
                  <a:pt x="199452" y="39874"/>
                  <a:pt x="199260" y="37935"/>
                </a:cubicBezTo>
                <a:cubicBezTo>
                  <a:pt x="199240" y="37765"/>
                  <a:pt x="199222" y="37593"/>
                  <a:pt x="199205" y="37417"/>
                </a:cubicBezTo>
                <a:cubicBezTo>
                  <a:pt x="198354" y="29215"/>
                  <a:pt x="198540" y="20961"/>
                  <a:pt x="198575" y="12724"/>
                </a:cubicBezTo>
                <a:cubicBezTo>
                  <a:pt x="197427" y="14370"/>
                  <a:pt x="196279" y="16015"/>
                  <a:pt x="195134" y="17664"/>
                </a:cubicBezTo>
                <a:cubicBezTo>
                  <a:pt x="195033" y="17805"/>
                  <a:pt x="194936" y="17946"/>
                  <a:pt x="194835" y="18093"/>
                </a:cubicBezTo>
                <a:cubicBezTo>
                  <a:pt x="193969" y="19338"/>
                  <a:pt x="193126" y="20596"/>
                  <a:pt x="192292" y="21864"/>
                </a:cubicBezTo>
                <a:cubicBezTo>
                  <a:pt x="191420" y="23176"/>
                  <a:pt x="190528" y="24476"/>
                  <a:pt x="189639" y="25780"/>
                </a:cubicBezTo>
                <a:cubicBezTo>
                  <a:pt x="189544" y="25918"/>
                  <a:pt x="189452" y="26053"/>
                  <a:pt x="189355" y="26194"/>
                </a:cubicBezTo>
                <a:cubicBezTo>
                  <a:pt x="188520" y="27417"/>
                  <a:pt x="187689" y="28637"/>
                  <a:pt x="186854" y="29859"/>
                </a:cubicBezTo>
                <a:cubicBezTo>
                  <a:pt x="184420" y="33415"/>
                  <a:pt x="182004" y="36980"/>
                  <a:pt x="179590" y="40550"/>
                </a:cubicBezTo>
                <a:cubicBezTo>
                  <a:pt x="179357" y="40895"/>
                  <a:pt x="179124" y="41240"/>
                  <a:pt x="178891" y="41586"/>
                </a:cubicBezTo>
                <a:cubicBezTo>
                  <a:pt x="177289" y="43956"/>
                  <a:pt x="175692" y="46327"/>
                  <a:pt x="174107" y="48709"/>
                </a:cubicBezTo>
                <a:cubicBezTo>
                  <a:pt x="173235" y="50021"/>
                  <a:pt x="172358" y="51327"/>
                  <a:pt x="171480" y="52633"/>
                </a:cubicBezTo>
                <a:cubicBezTo>
                  <a:pt x="170856" y="53562"/>
                  <a:pt x="170234" y="54492"/>
                  <a:pt x="169613" y="55418"/>
                </a:cubicBezTo>
                <a:cubicBezTo>
                  <a:pt x="169155" y="56100"/>
                  <a:pt x="168701" y="56782"/>
                  <a:pt x="168240" y="57464"/>
                </a:cubicBezTo>
                <a:cubicBezTo>
                  <a:pt x="167789" y="58134"/>
                  <a:pt x="167340" y="58807"/>
                  <a:pt x="166889" y="59480"/>
                </a:cubicBezTo>
                <a:cubicBezTo>
                  <a:pt x="166719" y="59733"/>
                  <a:pt x="166549" y="59987"/>
                  <a:pt x="166379" y="60240"/>
                </a:cubicBezTo>
                <a:cubicBezTo>
                  <a:pt x="166143" y="60588"/>
                  <a:pt x="165907" y="60942"/>
                  <a:pt x="165674" y="61293"/>
                </a:cubicBezTo>
                <a:cubicBezTo>
                  <a:pt x="165605" y="61394"/>
                  <a:pt x="165536" y="61494"/>
                  <a:pt x="165464" y="61598"/>
                </a:cubicBezTo>
                <a:cubicBezTo>
                  <a:pt x="164993" y="62314"/>
                  <a:pt x="164526" y="63091"/>
                  <a:pt x="164339" y="63934"/>
                </a:cubicBezTo>
                <a:cubicBezTo>
                  <a:pt x="164486" y="64414"/>
                  <a:pt x="164745" y="64783"/>
                  <a:pt x="165024" y="65194"/>
                </a:cubicBezTo>
                <a:cubicBezTo>
                  <a:pt x="166149" y="67136"/>
                  <a:pt x="166135" y="69403"/>
                  <a:pt x="165686" y="71569"/>
                </a:cubicBezTo>
                <a:cubicBezTo>
                  <a:pt x="165007" y="74069"/>
                  <a:pt x="163410" y="75865"/>
                  <a:pt x="161212" y="77156"/>
                </a:cubicBezTo>
                <a:cubicBezTo>
                  <a:pt x="159918" y="77827"/>
                  <a:pt x="158887" y="78091"/>
                  <a:pt x="157432" y="77907"/>
                </a:cubicBezTo>
                <a:cubicBezTo>
                  <a:pt x="156543" y="77815"/>
                  <a:pt x="155714" y="77789"/>
                  <a:pt x="154845" y="78031"/>
                </a:cubicBezTo>
                <a:cubicBezTo>
                  <a:pt x="154328" y="78460"/>
                  <a:pt x="154040" y="78969"/>
                  <a:pt x="153715" y="79550"/>
                </a:cubicBezTo>
                <a:cubicBezTo>
                  <a:pt x="153522" y="79866"/>
                  <a:pt x="153329" y="80186"/>
                  <a:pt x="153134" y="80502"/>
                </a:cubicBezTo>
                <a:cubicBezTo>
                  <a:pt x="153036" y="80666"/>
                  <a:pt x="152938" y="80833"/>
                  <a:pt x="152840" y="80997"/>
                </a:cubicBezTo>
                <a:cubicBezTo>
                  <a:pt x="152374" y="81762"/>
                  <a:pt x="151868" y="82496"/>
                  <a:pt x="151362" y="83232"/>
                </a:cubicBezTo>
                <a:cubicBezTo>
                  <a:pt x="151160" y="83526"/>
                  <a:pt x="150962" y="83819"/>
                  <a:pt x="150763" y="84110"/>
                </a:cubicBezTo>
                <a:cubicBezTo>
                  <a:pt x="150559" y="84409"/>
                  <a:pt x="150357" y="84708"/>
                  <a:pt x="150153" y="85007"/>
                </a:cubicBezTo>
                <a:cubicBezTo>
                  <a:pt x="150047" y="85166"/>
                  <a:pt x="149940" y="85321"/>
                  <a:pt x="149831" y="85482"/>
                </a:cubicBezTo>
                <a:cubicBezTo>
                  <a:pt x="149399" y="86115"/>
                  <a:pt x="148968" y="86748"/>
                  <a:pt x="148536" y="87378"/>
                </a:cubicBezTo>
                <a:cubicBezTo>
                  <a:pt x="148016" y="88143"/>
                  <a:pt x="147495" y="88911"/>
                  <a:pt x="146974" y="89677"/>
                </a:cubicBezTo>
                <a:cubicBezTo>
                  <a:pt x="143081" y="95422"/>
                  <a:pt x="138948" y="101087"/>
                  <a:pt x="134474" y="106395"/>
                </a:cubicBezTo>
                <a:cubicBezTo>
                  <a:pt x="134235" y="106677"/>
                  <a:pt x="133999" y="106961"/>
                  <a:pt x="133766" y="107246"/>
                </a:cubicBezTo>
                <a:cubicBezTo>
                  <a:pt x="129819" y="112042"/>
                  <a:pt x="125256" y="117189"/>
                  <a:pt x="120034" y="120610"/>
                </a:cubicBezTo>
                <a:cubicBezTo>
                  <a:pt x="119939" y="120673"/>
                  <a:pt x="119848" y="120736"/>
                  <a:pt x="119750" y="120799"/>
                </a:cubicBezTo>
                <a:cubicBezTo>
                  <a:pt x="118631" y="121536"/>
                  <a:pt x="117506" y="122261"/>
                  <a:pt x="116363" y="122960"/>
                </a:cubicBezTo>
                <a:cubicBezTo>
                  <a:pt x="116320" y="122986"/>
                  <a:pt x="116320" y="122986"/>
                  <a:pt x="116102" y="123121"/>
                </a:cubicBezTo>
                <a:cubicBezTo>
                  <a:pt x="115633" y="123406"/>
                  <a:pt x="115425" y="123487"/>
                  <a:pt x="114856" y="123487"/>
                </a:cubicBezTo>
                <a:cubicBezTo>
                  <a:pt x="114870" y="123642"/>
                  <a:pt x="114882" y="123794"/>
                  <a:pt x="114896" y="123953"/>
                </a:cubicBezTo>
                <a:cubicBezTo>
                  <a:pt x="115031" y="126225"/>
                  <a:pt x="114378" y="128288"/>
                  <a:pt x="112914" y="130052"/>
                </a:cubicBezTo>
                <a:cubicBezTo>
                  <a:pt x="111242" y="131913"/>
                  <a:pt x="109042" y="132929"/>
                  <a:pt x="106556" y="133078"/>
                </a:cubicBezTo>
                <a:cubicBezTo>
                  <a:pt x="103901" y="133153"/>
                  <a:pt x="101608" y="132293"/>
                  <a:pt x="99622" y="130535"/>
                </a:cubicBezTo>
                <a:cubicBezTo>
                  <a:pt x="98906" y="129830"/>
                  <a:pt x="98541" y="129137"/>
                  <a:pt x="98173" y="128208"/>
                </a:cubicBezTo>
                <a:cubicBezTo>
                  <a:pt x="97425" y="126326"/>
                  <a:pt x="97425" y="126326"/>
                  <a:pt x="96599" y="125820"/>
                </a:cubicBezTo>
                <a:cubicBezTo>
                  <a:pt x="95629" y="125414"/>
                  <a:pt x="94611" y="125167"/>
                  <a:pt x="93595" y="124902"/>
                </a:cubicBezTo>
                <a:cubicBezTo>
                  <a:pt x="92473" y="124597"/>
                  <a:pt x="91452" y="124105"/>
                  <a:pt x="90419" y="123579"/>
                </a:cubicBezTo>
                <a:cubicBezTo>
                  <a:pt x="90373" y="123553"/>
                  <a:pt x="90373" y="123553"/>
                  <a:pt x="90132" y="123429"/>
                </a:cubicBezTo>
                <a:cubicBezTo>
                  <a:pt x="86098" y="121349"/>
                  <a:pt x="82516" y="118783"/>
                  <a:pt x="78978" y="115958"/>
                </a:cubicBezTo>
                <a:cubicBezTo>
                  <a:pt x="62812" y="103055"/>
                  <a:pt x="62812" y="103055"/>
                  <a:pt x="53289" y="104087"/>
                </a:cubicBezTo>
                <a:cubicBezTo>
                  <a:pt x="47124" y="104824"/>
                  <a:pt x="41799" y="107965"/>
                  <a:pt x="37178" y="111979"/>
                </a:cubicBezTo>
                <a:cubicBezTo>
                  <a:pt x="37103" y="112045"/>
                  <a:pt x="37029" y="112108"/>
                  <a:pt x="36954" y="112174"/>
                </a:cubicBezTo>
                <a:cubicBezTo>
                  <a:pt x="35849" y="113135"/>
                  <a:pt x="34782" y="114131"/>
                  <a:pt x="33726" y="115143"/>
                </a:cubicBezTo>
                <a:cubicBezTo>
                  <a:pt x="33648" y="115218"/>
                  <a:pt x="33573" y="115293"/>
                  <a:pt x="33493" y="115368"/>
                </a:cubicBezTo>
                <a:cubicBezTo>
                  <a:pt x="31439" y="117341"/>
                  <a:pt x="29514" y="119358"/>
                  <a:pt x="27754" y="121602"/>
                </a:cubicBezTo>
                <a:cubicBezTo>
                  <a:pt x="27348" y="122109"/>
                  <a:pt x="26934" y="122609"/>
                  <a:pt x="26519" y="123107"/>
                </a:cubicBezTo>
                <a:cubicBezTo>
                  <a:pt x="24488" y="125549"/>
                  <a:pt x="22621" y="128055"/>
                  <a:pt x="20863" y="130699"/>
                </a:cubicBezTo>
                <a:cubicBezTo>
                  <a:pt x="20564" y="131151"/>
                  <a:pt x="20259" y="131597"/>
                  <a:pt x="19954" y="132043"/>
                </a:cubicBezTo>
                <a:cubicBezTo>
                  <a:pt x="18145" y="134687"/>
                  <a:pt x="16479" y="137408"/>
                  <a:pt x="14845" y="140161"/>
                </a:cubicBezTo>
                <a:cubicBezTo>
                  <a:pt x="14813" y="140216"/>
                  <a:pt x="14813" y="140216"/>
                  <a:pt x="14649" y="140492"/>
                </a:cubicBezTo>
                <a:cubicBezTo>
                  <a:pt x="14589" y="140593"/>
                  <a:pt x="14528" y="140696"/>
                  <a:pt x="14468" y="140800"/>
                </a:cubicBezTo>
                <a:cubicBezTo>
                  <a:pt x="14416" y="140889"/>
                  <a:pt x="14361" y="140975"/>
                  <a:pt x="14309" y="141068"/>
                </a:cubicBezTo>
                <a:cubicBezTo>
                  <a:pt x="14154" y="141341"/>
                  <a:pt x="14013" y="141617"/>
                  <a:pt x="13875" y="141899"/>
                </a:cubicBezTo>
                <a:cubicBezTo>
                  <a:pt x="14048" y="141974"/>
                  <a:pt x="14218" y="142046"/>
                  <a:pt x="14396" y="142123"/>
                </a:cubicBezTo>
                <a:cubicBezTo>
                  <a:pt x="15078" y="142466"/>
                  <a:pt x="15466" y="142906"/>
                  <a:pt x="15906" y="143519"/>
                </a:cubicBezTo>
                <a:cubicBezTo>
                  <a:pt x="15981" y="143619"/>
                  <a:pt x="16056" y="143723"/>
                  <a:pt x="16131" y="143827"/>
                </a:cubicBezTo>
                <a:cubicBezTo>
                  <a:pt x="17572" y="145889"/>
                  <a:pt x="18176" y="148430"/>
                  <a:pt x="17802" y="150933"/>
                </a:cubicBezTo>
                <a:cubicBezTo>
                  <a:pt x="17307" y="153459"/>
                  <a:pt x="15797" y="155596"/>
                  <a:pt x="13688" y="157032"/>
                </a:cubicBezTo>
                <a:cubicBezTo>
                  <a:pt x="11525" y="158381"/>
                  <a:pt x="9062" y="158686"/>
                  <a:pt x="6574" y="158174"/>
                </a:cubicBezTo>
                <a:cubicBezTo>
                  <a:pt x="4433" y="157627"/>
                  <a:pt x="2445" y="156183"/>
                  <a:pt x="1254" y="154325"/>
                </a:cubicBezTo>
                <a:cubicBezTo>
                  <a:pt x="-31" y="152138"/>
                  <a:pt x="-601" y="149675"/>
                  <a:pt x="0" y="147195"/>
                </a:cubicBezTo>
                <a:cubicBezTo>
                  <a:pt x="736" y="144514"/>
                  <a:pt x="2261" y="142434"/>
                  <a:pt x="4669" y="141036"/>
                </a:cubicBezTo>
                <a:cubicBezTo>
                  <a:pt x="4758" y="140987"/>
                  <a:pt x="4845" y="140935"/>
                  <a:pt x="4936" y="140883"/>
                </a:cubicBezTo>
                <a:cubicBezTo>
                  <a:pt x="6729" y="139905"/>
                  <a:pt x="8728" y="140087"/>
                  <a:pt x="10710" y="140173"/>
                </a:cubicBezTo>
                <a:cubicBezTo>
                  <a:pt x="10745" y="140087"/>
                  <a:pt x="10745" y="140087"/>
                  <a:pt x="10915" y="139652"/>
                </a:cubicBezTo>
                <a:cubicBezTo>
                  <a:pt x="12966" y="134502"/>
                  <a:pt x="15432" y="129557"/>
                  <a:pt x="18478" y="124925"/>
                </a:cubicBezTo>
                <a:cubicBezTo>
                  <a:pt x="18544" y="124827"/>
                  <a:pt x="18608" y="124727"/>
                  <a:pt x="18677" y="124626"/>
                </a:cubicBezTo>
                <a:cubicBezTo>
                  <a:pt x="21189" y="120799"/>
                  <a:pt x="23916" y="117180"/>
                  <a:pt x="27037" y="113832"/>
                </a:cubicBezTo>
                <a:cubicBezTo>
                  <a:pt x="27423" y="113417"/>
                  <a:pt x="27800" y="113000"/>
                  <a:pt x="28159" y="112566"/>
                </a:cubicBezTo>
                <a:cubicBezTo>
                  <a:pt x="33573" y="106018"/>
                  <a:pt x="41097" y="100796"/>
                  <a:pt x="49262" y="98457"/>
                </a:cubicBezTo>
                <a:cubicBezTo>
                  <a:pt x="49394" y="98420"/>
                  <a:pt x="49526" y="98382"/>
                  <a:pt x="49664" y="98342"/>
                </a:cubicBezTo>
                <a:cubicBezTo>
                  <a:pt x="53764" y="97211"/>
                  <a:pt x="58738" y="97591"/>
                  <a:pt x="62783" y="98745"/>
                </a:cubicBezTo>
                <a:cubicBezTo>
                  <a:pt x="62947" y="98794"/>
                  <a:pt x="63108" y="98840"/>
                  <a:pt x="63278" y="98886"/>
                </a:cubicBezTo>
                <a:cubicBezTo>
                  <a:pt x="67711" y="100201"/>
                  <a:pt x="71759" y="102609"/>
                  <a:pt x="75442" y="105362"/>
                </a:cubicBezTo>
                <a:cubicBezTo>
                  <a:pt x="75534" y="105431"/>
                  <a:pt x="75626" y="105500"/>
                  <a:pt x="75718" y="105569"/>
                </a:cubicBezTo>
                <a:cubicBezTo>
                  <a:pt x="77637" y="107002"/>
                  <a:pt x="79544" y="108446"/>
                  <a:pt x="81391" y="109968"/>
                </a:cubicBezTo>
                <a:cubicBezTo>
                  <a:pt x="85088" y="113012"/>
                  <a:pt x="89006" y="115897"/>
                  <a:pt x="93351" y="117949"/>
                </a:cubicBezTo>
                <a:cubicBezTo>
                  <a:pt x="93446" y="117995"/>
                  <a:pt x="93541" y="118041"/>
                  <a:pt x="93641" y="118089"/>
                </a:cubicBezTo>
                <a:cubicBezTo>
                  <a:pt x="95106" y="118780"/>
                  <a:pt x="96582" y="119157"/>
                  <a:pt x="98169" y="119459"/>
                </a:cubicBezTo>
                <a:cubicBezTo>
                  <a:pt x="98204" y="119401"/>
                  <a:pt x="98204" y="119401"/>
                  <a:pt x="98374" y="119114"/>
                </a:cubicBezTo>
                <a:cubicBezTo>
                  <a:pt x="99680" y="116939"/>
                  <a:pt x="101570" y="115569"/>
                  <a:pt x="104033" y="114948"/>
                </a:cubicBezTo>
                <a:cubicBezTo>
                  <a:pt x="104283" y="114910"/>
                  <a:pt x="104533" y="114882"/>
                  <a:pt x="104787" y="114856"/>
                </a:cubicBezTo>
                <a:cubicBezTo>
                  <a:pt x="104968" y="114839"/>
                  <a:pt x="105152" y="114821"/>
                  <a:pt x="105339" y="114801"/>
                </a:cubicBezTo>
                <a:cubicBezTo>
                  <a:pt x="108136" y="114611"/>
                  <a:pt x="110607" y="115883"/>
                  <a:pt x="112842" y="117445"/>
                </a:cubicBezTo>
                <a:cubicBezTo>
                  <a:pt x="116996" y="115235"/>
                  <a:pt x="120322" y="112344"/>
                  <a:pt x="123637" y="109044"/>
                </a:cubicBezTo>
                <a:cubicBezTo>
                  <a:pt x="123861" y="108820"/>
                  <a:pt x="124085" y="108595"/>
                  <a:pt x="124310" y="108371"/>
                </a:cubicBezTo>
                <a:cubicBezTo>
                  <a:pt x="126174" y="106518"/>
                  <a:pt x="127915" y="104605"/>
                  <a:pt x="129545" y="102540"/>
                </a:cubicBezTo>
                <a:cubicBezTo>
                  <a:pt x="129856" y="102148"/>
                  <a:pt x="130170" y="101766"/>
                  <a:pt x="130483" y="101380"/>
                </a:cubicBezTo>
                <a:cubicBezTo>
                  <a:pt x="132684" y="98693"/>
                  <a:pt x="134756" y="95911"/>
                  <a:pt x="136799" y="93103"/>
                </a:cubicBezTo>
                <a:cubicBezTo>
                  <a:pt x="137198" y="92551"/>
                  <a:pt x="137604" y="91998"/>
                  <a:pt x="138010" y="91446"/>
                </a:cubicBezTo>
                <a:cubicBezTo>
                  <a:pt x="140392" y="88204"/>
                  <a:pt x="142638" y="84878"/>
                  <a:pt x="144854" y="81518"/>
                </a:cubicBezTo>
                <a:cubicBezTo>
                  <a:pt x="145254" y="80908"/>
                  <a:pt x="145657" y="80301"/>
                  <a:pt x="146059" y="79694"/>
                </a:cubicBezTo>
                <a:cubicBezTo>
                  <a:pt x="146243" y="79420"/>
                  <a:pt x="146425" y="79144"/>
                  <a:pt x="146603" y="78871"/>
                </a:cubicBezTo>
                <a:cubicBezTo>
                  <a:pt x="147037" y="78212"/>
                  <a:pt x="147486" y="77579"/>
                  <a:pt x="147972" y="76958"/>
                </a:cubicBezTo>
                <a:cubicBezTo>
                  <a:pt x="149371" y="75145"/>
                  <a:pt x="149371" y="75145"/>
                  <a:pt x="149397" y="74357"/>
                </a:cubicBezTo>
                <a:cubicBezTo>
                  <a:pt x="149247" y="73897"/>
                  <a:pt x="149054" y="73554"/>
                  <a:pt x="148804" y="73140"/>
                </a:cubicBezTo>
                <a:cubicBezTo>
                  <a:pt x="147774" y="71031"/>
                  <a:pt x="147616" y="68327"/>
                  <a:pt x="148364" y="66103"/>
                </a:cubicBezTo>
                <a:cubicBezTo>
                  <a:pt x="149224" y="63871"/>
                  <a:pt x="150662" y="61865"/>
                  <a:pt x="152832" y="60769"/>
                </a:cubicBezTo>
                <a:cubicBezTo>
                  <a:pt x="154230" y="60171"/>
                  <a:pt x="155642" y="59745"/>
                  <a:pt x="157150" y="60102"/>
                </a:cubicBezTo>
                <a:cubicBezTo>
                  <a:pt x="157878" y="60165"/>
                  <a:pt x="158479" y="60205"/>
                  <a:pt x="159161" y="59906"/>
                </a:cubicBezTo>
                <a:cubicBezTo>
                  <a:pt x="159624" y="59411"/>
                  <a:pt x="159949" y="58856"/>
                  <a:pt x="160274" y="58269"/>
                </a:cubicBezTo>
                <a:cubicBezTo>
                  <a:pt x="160573" y="57737"/>
                  <a:pt x="160887" y="57219"/>
                  <a:pt x="161198" y="56698"/>
                </a:cubicBezTo>
                <a:cubicBezTo>
                  <a:pt x="161267" y="56586"/>
                  <a:pt x="161333" y="56474"/>
                  <a:pt x="161399" y="56356"/>
                </a:cubicBezTo>
                <a:cubicBezTo>
                  <a:pt x="162207" y="55001"/>
                  <a:pt x="163097" y="53698"/>
                  <a:pt x="163983" y="52392"/>
                </a:cubicBezTo>
                <a:cubicBezTo>
                  <a:pt x="164155" y="52135"/>
                  <a:pt x="164325" y="51882"/>
                  <a:pt x="164498" y="51629"/>
                </a:cubicBezTo>
                <a:cubicBezTo>
                  <a:pt x="164941" y="50973"/>
                  <a:pt x="165384" y="50320"/>
                  <a:pt x="165827" y="49667"/>
                </a:cubicBezTo>
                <a:cubicBezTo>
                  <a:pt x="166575" y="48568"/>
                  <a:pt x="167317" y="47466"/>
                  <a:pt x="168062" y="46367"/>
                </a:cubicBezTo>
                <a:cubicBezTo>
                  <a:pt x="168335" y="45962"/>
                  <a:pt x="168609" y="45556"/>
                  <a:pt x="168882" y="45153"/>
                </a:cubicBezTo>
                <a:cubicBezTo>
                  <a:pt x="170237" y="43148"/>
                  <a:pt x="171581" y="41137"/>
                  <a:pt x="172916" y="39120"/>
                </a:cubicBezTo>
                <a:cubicBezTo>
                  <a:pt x="174463" y="36790"/>
                  <a:pt x="176046" y="34485"/>
                  <a:pt x="177651" y="32192"/>
                </a:cubicBezTo>
                <a:cubicBezTo>
                  <a:pt x="178923" y="30374"/>
                  <a:pt x="180177" y="28547"/>
                  <a:pt x="181402" y="26697"/>
                </a:cubicBezTo>
                <a:cubicBezTo>
                  <a:pt x="182459" y="25107"/>
                  <a:pt x="183520" y="23521"/>
                  <a:pt x="184605" y="21951"/>
                </a:cubicBezTo>
                <a:cubicBezTo>
                  <a:pt x="184636" y="21905"/>
                  <a:pt x="184636" y="21905"/>
                  <a:pt x="184798" y="21669"/>
                </a:cubicBezTo>
                <a:cubicBezTo>
                  <a:pt x="185059" y="21289"/>
                  <a:pt x="185321" y="20909"/>
                  <a:pt x="185583" y="20532"/>
                </a:cubicBezTo>
                <a:cubicBezTo>
                  <a:pt x="186342" y="19430"/>
                  <a:pt x="187102" y="18326"/>
                  <a:pt x="187859" y="17221"/>
                </a:cubicBezTo>
                <a:cubicBezTo>
                  <a:pt x="188008" y="17002"/>
                  <a:pt x="188161" y="16781"/>
                  <a:pt x="188310" y="16562"/>
                </a:cubicBezTo>
                <a:cubicBezTo>
                  <a:pt x="189838" y="14338"/>
                  <a:pt x="191328" y="12094"/>
                  <a:pt x="192821" y="9847"/>
                </a:cubicBezTo>
                <a:cubicBezTo>
                  <a:pt x="192686" y="9905"/>
                  <a:pt x="192554" y="9959"/>
                  <a:pt x="192416" y="10014"/>
                </a:cubicBezTo>
                <a:cubicBezTo>
                  <a:pt x="176483" y="16530"/>
                  <a:pt x="176483" y="16530"/>
                  <a:pt x="169860" y="18642"/>
                </a:cubicBezTo>
                <a:cubicBezTo>
                  <a:pt x="169748" y="18677"/>
                  <a:pt x="169639" y="18711"/>
                  <a:pt x="169524" y="18749"/>
                </a:cubicBezTo>
                <a:cubicBezTo>
                  <a:pt x="166137" y="19822"/>
                  <a:pt x="166137" y="19822"/>
                  <a:pt x="165113" y="19433"/>
                </a:cubicBezTo>
                <a:cubicBezTo>
                  <a:pt x="164728" y="19189"/>
                  <a:pt x="164512" y="18956"/>
                  <a:pt x="164339" y="18533"/>
                </a:cubicBezTo>
                <a:cubicBezTo>
                  <a:pt x="164267" y="17952"/>
                  <a:pt x="164440" y="17678"/>
                  <a:pt x="164794" y="17224"/>
                </a:cubicBezTo>
                <a:cubicBezTo>
                  <a:pt x="165533" y="16341"/>
                  <a:pt x="166442" y="15794"/>
                  <a:pt x="167426" y="15230"/>
                </a:cubicBezTo>
                <a:cubicBezTo>
                  <a:pt x="167619" y="15118"/>
                  <a:pt x="167809" y="15006"/>
                  <a:pt x="168002" y="14893"/>
                </a:cubicBezTo>
                <a:cubicBezTo>
                  <a:pt x="170013" y="13725"/>
                  <a:pt x="172084" y="12670"/>
                  <a:pt x="174170" y="11637"/>
                </a:cubicBezTo>
                <a:cubicBezTo>
                  <a:pt x="174489" y="11481"/>
                  <a:pt x="174806" y="11323"/>
                  <a:pt x="175122" y="11165"/>
                </a:cubicBezTo>
                <a:cubicBezTo>
                  <a:pt x="178324" y="9571"/>
                  <a:pt x="181558" y="8066"/>
                  <a:pt x="184837" y="6637"/>
                </a:cubicBezTo>
                <a:cubicBezTo>
                  <a:pt x="184993" y="6570"/>
                  <a:pt x="185151" y="6501"/>
                  <a:pt x="185312" y="6432"/>
                </a:cubicBezTo>
                <a:cubicBezTo>
                  <a:pt x="185471" y="6363"/>
                  <a:pt x="185629" y="6294"/>
                  <a:pt x="185790" y="6222"/>
                </a:cubicBezTo>
                <a:cubicBezTo>
                  <a:pt x="187191" y="5610"/>
                  <a:pt x="188583" y="4977"/>
                  <a:pt x="189973" y="4338"/>
                </a:cubicBezTo>
                <a:cubicBezTo>
                  <a:pt x="190031" y="4312"/>
                  <a:pt x="190031" y="4312"/>
                  <a:pt x="190315" y="4183"/>
                </a:cubicBezTo>
                <a:cubicBezTo>
                  <a:pt x="191328" y="3717"/>
                  <a:pt x="192338" y="3253"/>
                  <a:pt x="193348" y="2787"/>
                </a:cubicBezTo>
                <a:cubicBezTo>
                  <a:pt x="197401" y="917"/>
                  <a:pt x="197401" y="917"/>
                  <a:pt x="199099" y="230"/>
                </a:cubicBezTo>
                <a:cubicBezTo>
                  <a:pt x="199211" y="184"/>
                  <a:pt x="199323" y="138"/>
                  <a:pt x="199438" y="92"/>
                </a:cubicBezTo>
                <a:cubicBezTo>
                  <a:pt x="200511" y="-330"/>
                  <a:pt x="201409" y="-517"/>
                  <a:pt x="202485" y="0"/>
                </a:cubicBezTo>
                <a:close/>
              </a:path>
            </a:pathLst>
          </a:custGeom>
          <a:gradFill>
            <a:gsLst>
              <a:gs pos="0">
                <a:srgbClr val="084032"/>
              </a:gs>
              <a:gs pos="100000">
                <a:srgbClr val="000000"/>
              </a:gs>
            </a:gsLst>
            <a:lin ang="2700000"/>
          </a:gradFill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6" name="Rectangle 15"/>
          <p:cNvSpPr/>
          <p:nvPr>
            <p:custDataLst>
              <p:tags r:id="rId3"/>
            </p:custDataLst>
          </p:nvPr>
        </p:nvSpPr>
        <p:spPr>
          <a:xfrm>
            <a:off x="8446067" y="1156862"/>
            <a:ext cx="3673258" cy="262128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9pPr>
          </a:lstStyle>
          <a:p>
            <a:pPr marL="0">
              <a:spcBef>
                <a:spcPct val="21875"/>
              </a:spcBef>
              <a:spcAft>
                <a:spcPct val="21875"/>
              </a:spcAft>
            </a:pPr>
            <a:r>
              <a:rPr sz="1600" b="1" dirty="0">
                <a:solidFill>
                  <a:srgbClr val="000000"/>
                </a:solidFill>
                <a:latin typeface="+mn-lt"/>
                <a:ea typeface="+mn-ea"/>
                <a:cs typeface="+mn-lt"/>
              </a:rPr>
              <a:t>Key Patterns &amp; Implications </a:t>
            </a:r>
          </a:p>
        </p:txBody>
      </p:sp>
      <p:sp>
        <p:nvSpPr>
          <p:cNvPr id="17" name="Rectangle 16"/>
          <p:cNvSpPr/>
          <p:nvPr>
            <p:custDataLst>
              <p:tags r:id="rId4"/>
            </p:custDataLst>
          </p:nvPr>
        </p:nvSpPr>
        <p:spPr>
          <a:xfrm>
            <a:off x="8144114" y="1453102"/>
            <a:ext cx="3743086" cy="32766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IN" sz="1350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350" b="1" dirty="0"/>
              <a:t>November consistently records the highest gross sales</a:t>
            </a:r>
            <a:r>
              <a:rPr lang="en-IN" sz="1350" dirty="0"/>
              <a:t> across every fiscal year, peaking at </a:t>
            </a:r>
            <a:r>
              <a:rPr lang="en-IN" sz="1350" b="1" dirty="0"/>
              <a:t>259.11M in FY2022</a:t>
            </a:r>
            <a:r>
              <a:rPr lang="en-IN" sz="1350" dirty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350" b="1" dirty="0"/>
              <a:t>April is generally the weakest month</a:t>
            </a:r>
            <a:r>
              <a:rPr lang="en-IN" sz="1350" dirty="0"/>
              <a:t>, recording the lowest sales in FY2018, FY2019, and FY2021.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350" b="1" dirty="0"/>
              <a:t>Gross sales show a strong year-over-year growth trend</a:t>
            </a:r>
            <a:r>
              <a:rPr lang="en-IN" sz="1350" dirty="0"/>
              <a:t>, increasing significantly from FY2018 to FY2022.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350" b="1" dirty="0"/>
              <a:t>FY2020 shows a major disruption</a:t>
            </a:r>
            <a:r>
              <a:rPr lang="en-IN" sz="1350" dirty="0"/>
              <a:t>, with sales plunging from </a:t>
            </a:r>
            <a:r>
              <a:rPr lang="en-IN" sz="1350" b="1" dirty="0"/>
              <a:t>15.17M in February to 1.42M in March</a:t>
            </a:r>
            <a:r>
              <a:rPr lang="en-IN" sz="1350" dirty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350" b="1" dirty="0"/>
              <a:t>Sales follow a recurring seasonal pattern</a:t>
            </a:r>
            <a:r>
              <a:rPr lang="en-IN" sz="1350" dirty="0"/>
              <a:t>, typically increasing from September to November and declining after the November peak.</a:t>
            </a:r>
          </a:p>
        </p:txBody>
      </p:sp>
      <p:sp>
        <p:nvSpPr>
          <p:cNvPr id="20" name="New shape"/>
          <p:cNvSpPr/>
          <p:nvPr>
            <p:custDataLst>
              <p:tags r:id="rId5"/>
            </p:custDataLst>
          </p:nvPr>
        </p:nvSpPr>
        <p:spPr>
          <a:xfrm>
            <a:off x="381000" y="5572059"/>
            <a:ext cx="11430000" cy="533400"/>
          </a:xfrm>
          <a:custGeom>
            <a:avLst/>
            <a:gdLst/>
            <a:ahLst/>
            <a:cxnLst/>
            <a:rect l="l" t="t" r="r" b="b"/>
            <a:pathLst>
              <a:path w="11430000" h="533400">
                <a:moveTo>
                  <a:pt x="0" y="0"/>
                </a:moveTo>
                <a:lnTo>
                  <a:pt x="11430000" y="0"/>
                </a:lnTo>
                <a:lnTo>
                  <a:pt x="11430000" y="533400"/>
                </a:lnTo>
                <a:lnTo>
                  <a:pt x="0" y="533400"/>
                </a:lnTo>
                <a:close/>
              </a:path>
            </a:pathLst>
          </a:custGeom>
          <a:gradFill>
            <a:gsLst>
              <a:gs pos="0">
                <a:srgbClr val="084032"/>
              </a:gs>
              <a:gs pos="100000">
                <a:srgbClr val="000000"/>
              </a:gs>
            </a:gsLst>
            <a:lin ang="2700000"/>
          </a:gradFill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9pPr>
          </a:lstStyle>
          <a:p>
            <a:pPr algn="ctr"/>
            <a:r>
              <a:rPr lang="en-IN" sz="1350" dirty="0">
                <a:solidFill>
                  <a:schemeClr val="bg1"/>
                </a:solidFill>
              </a:rPr>
              <a:t>Gross sales demonstrate strong year-over-year growth with a recurring November peak, while April tends to be a weaker month. The FY2020 disruption temporarily broke the trend, but sales recovered strongly, culminating in a record-high ₹259.11M in November FY2022.</a:t>
            </a:r>
            <a:endParaRPr sz="1350" dirty="0">
              <a:solidFill>
                <a:schemeClr val="bg1"/>
              </a:solidFill>
            </a:endParaRPr>
          </a:p>
        </p:txBody>
      </p:sp>
      <p:sp>
        <p:nvSpPr>
          <p:cNvPr id="21" name="Rectangle 20"/>
          <p:cNvSpPr/>
          <p:nvPr>
            <p:custDataLst>
              <p:tags r:id="rId6"/>
            </p:custDataLst>
          </p:nvPr>
        </p:nvSpPr>
        <p:spPr>
          <a:xfrm>
            <a:off x="609600" y="5974080"/>
            <a:ext cx="10972800" cy="3048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9pPr>
          </a:lstStyle>
          <a:p>
            <a:pPr marL="0">
              <a:spcBef>
                <a:spcPct val="21875"/>
              </a:spcBef>
              <a:spcAft>
                <a:spcPct val="21875"/>
              </a:spcAft>
            </a:pPr>
            <a:endParaRPr sz="1000" dirty="0">
              <a:solidFill>
                <a:srgbClr val="FFFFFF"/>
              </a:solidFill>
              <a:latin typeface="+mn-lt"/>
              <a:ea typeface="+mn-ea"/>
              <a:cs typeface="+mn-lt"/>
            </a:endParaRP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EF730F17-6BEB-31C0-94AA-6B50003501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2267162"/>
              </p:ext>
            </p:extLst>
          </p:nvPr>
        </p:nvGraphicFramePr>
        <p:xfrm>
          <a:off x="278524" y="1190415"/>
          <a:ext cx="7700962" cy="3752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8" imgW="9212474" imgH="4335532" progId="Excel.Sheet.12">
                  <p:link updateAutomatic="1"/>
                </p:oleObj>
              </mc:Choice>
              <mc:Fallback>
                <p:oleObj name="Worksheet" r:id="rId8" imgW="9212474" imgH="4335532" progId="Excel.Sheet.12">
                  <p:link updateAutomatic="1"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EF730F17-6BEB-31C0-94AA-6B50003501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78524" y="1190415"/>
                        <a:ext cx="7700962" cy="3752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10"/>
            <p:custDataLst>
              <p:tags r:id="rId1"/>
            </p:custDataLst>
          </p:nvPr>
        </p:nvSpPr>
        <p:spPr/>
        <p:txBody>
          <a:bodyPr lIns="0" rIns="0">
            <a:normAutofit/>
          </a:bodyPr>
          <a:lstStyle/>
          <a:p>
            <a:pPr lvl="0">
              <a:spcBef>
                <a:spcPct val="21875"/>
              </a:spcBef>
              <a:spcAft>
                <a:spcPct val="21875"/>
              </a:spcAft>
            </a:pPr>
            <a:r>
              <a:rPr lang="en-US" sz="2378" dirty="0">
                <a:latin typeface="+mj-lt"/>
                <a:cs typeface="+mj-lt"/>
              </a:rPr>
              <a:t>8. In which quarter of 2020 got the maximum total sold quantity?</a:t>
            </a:r>
            <a:endParaRPr lang="en-US" sz="2378" dirty="0">
              <a:latin typeface="+mj-lt"/>
              <a:ea typeface="+mj-ea"/>
              <a:cs typeface="+mj-lt"/>
            </a:endParaRPr>
          </a:p>
        </p:txBody>
      </p:sp>
      <p:sp>
        <p:nvSpPr>
          <p:cNvPr id="8" name="Rectangle 7"/>
          <p:cNvSpPr/>
          <p:nvPr>
            <p:custDataLst>
              <p:tags r:id="rId2"/>
            </p:custDataLst>
          </p:nvPr>
        </p:nvSpPr>
        <p:spPr>
          <a:xfrm>
            <a:off x="5943600" y="1371600"/>
            <a:ext cx="5867400" cy="3048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9pPr>
          </a:lstStyle>
          <a:p>
            <a:pPr marL="0">
              <a:spcBef>
                <a:spcPct val="21875"/>
              </a:spcBef>
              <a:spcAft>
                <a:spcPct val="21875"/>
              </a:spcAft>
            </a:pPr>
            <a:r>
              <a:rPr sz="1400" b="1" dirty="0">
                <a:solidFill>
                  <a:srgbClr val="000000"/>
                </a:solidFill>
                <a:latin typeface="+mn-lt"/>
                <a:ea typeface="+mn-ea"/>
                <a:cs typeface="+mn-lt"/>
              </a:rPr>
              <a:t>Quarterly Sold Quantity Breakdown — FY2020 (Sep 2019 – Aug 2020) </a:t>
            </a:r>
          </a:p>
        </p:txBody>
      </p:sp>
      <p:sp>
        <p:nvSpPr>
          <p:cNvPr id="11" name="New shape"/>
          <p:cNvSpPr/>
          <p:nvPr>
            <p:custDataLst>
              <p:tags r:id="rId3"/>
            </p:custDataLst>
          </p:nvPr>
        </p:nvSpPr>
        <p:spPr>
          <a:xfrm>
            <a:off x="5943600" y="1752600"/>
            <a:ext cx="5867400" cy="0"/>
          </a:xfrm>
          <a:custGeom>
            <a:avLst/>
            <a:gdLst/>
            <a:ahLst/>
            <a:cxnLst/>
            <a:rect l="l" t="t" r="r" b="b"/>
            <a:pathLst>
              <a:path w="5867400">
                <a:moveTo>
                  <a:pt x="0" y="0"/>
                </a:moveTo>
                <a:lnTo>
                  <a:pt x="5867400" y="0"/>
                </a:lnTo>
              </a:path>
            </a:pathLst>
          </a:custGeom>
          <a:solidFill>
            <a:srgbClr val="000000">
              <a:alpha val="100000"/>
            </a:srgbClr>
          </a:solidFill>
          <a:ln w="9525" cmpd="sng">
            <a:solidFill>
              <a:srgbClr val="000000"/>
            </a:solidFill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2" name="Rectangle 11"/>
          <p:cNvSpPr/>
          <p:nvPr>
            <p:custDataLst>
              <p:tags r:id="rId4"/>
            </p:custDataLst>
          </p:nvPr>
        </p:nvSpPr>
        <p:spPr>
          <a:xfrm>
            <a:off x="5943600" y="1905000"/>
            <a:ext cx="5867400" cy="19812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9pPr>
          </a:lstStyle>
          <a:p>
            <a:pPr marL="152400" lvl="1" indent="-152400">
              <a:spcAft>
                <a:spcPts val="500"/>
              </a:spcAft>
              <a:buChar char="•"/>
            </a:pPr>
            <a:r>
              <a:rPr sz="1400" b="1">
                <a:solidFill>
                  <a:srgbClr val="000000"/>
                </a:solidFill>
                <a:latin typeface="+mn-lt"/>
                <a:ea typeface="+mn-ea"/>
                <a:cs typeface="+mn-lt"/>
              </a:rPr>
              <a:t>Q1 (Sep–Nov 2019):</a:t>
            </a:r>
            <a:r>
              <a:rPr sz="1400">
                <a:solidFill>
                  <a:srgbClr val="000000"/>
                </a:solidFill>
                <a:latin typeface="+mn-lt"/>
                <a:ea typeface="+mn-ea"/>
                <a:cs typeface="+mn-lt"/>
              </a:rPr>
              <a:t> Maximum total sold quantity — highest volume quarter across FY2020</a:t>
            </a:r>
          </a:p>
          <a:p>
            <a:pPr marL="152400" lvl="1" indent="-152400">
              <a:spcAft>
                <a:spcPts val="500"/>
              </a:spcAft>
              <a:buChar char="•"/>
            </a:pPr>
            <a:r>
              <a:rPr sz="1400" b="1">
                <a:solidFill>
                  <a:srgbClr val="000000"/>
                </a:solidFill>
                <a:latin typeface="+mn-lt"/>
                <a:ea typeface="+mn-ea"/>
                <a:cs typeface="+mn-lt"/>
              </a:rPr>
              <a:t>Q2 (Dec 2019–Feb 2020):</a:t>
            </a:r>
            <a:r>
              <a:rPr sz="1400">
                <a:solidFill>
                  <a:srgbClr val="000000"/>
                </a:solidFill>
                <a:latin typeface="+mn-lt"/>
                <a:ea typeface="+mn-ea"/>
                <a:cs typeface="+mn-lt"/>
              </a:rPr>
              <a:t> Second highest quarter, sustaining strong momentum</a:t>
            </a:r>
          </a:p>
          <a:p>
            <a:pPr marL="152400" lvl="1" indent="-152400">
              <a:spcAft>
                <a:spcPts val="500"/>
              </a:spcAft>
              <a:buChar char="•"/>
            </a:pPr>
            <a:r>
              <a:rPr sz="1400" b="1">
                <a:solidFill>
                  <a:srgbClr val="000000"/>
                </a:solidFill>
                <a:latin typeface="+mn-lt"/>
                <a:ea typeface="+mn-ea"/>
                <a:cs typeface="+mn-lt"/>
              </a:rPr>
              <a:t>Q3 (Mar–May 2020):</a:t>
            </a:r>
            <a:r>
              <a:rPr sz="1400">
                <a:solidFill>
                  <a:srgbClr val="000000"/>
                </a:solidFill>
                <a:latin typeface="+mn-lt"/>
                <a:ea typeface="+mn-ea"/>
                <a:cs typeface="+mn-lt"/>
              </a:rPr>
              <a:t> Sharp decline — impacted by COVID-19 lockdowns beginning March 2020</a:t>
            </a:r>
          </a:p>
          <a:p>
            <a:pPr marL="152400" lvl="1" indent="-152400">
              <a:spcAft>
                <a:spcPts val="500"/>
              </a:spcAft>
              <a:buChar char="•"/>
            </a:pPr>
            <a:r>
              <a:rPr sz="1400" b="1">
                <a:solidFill>
                  <a:srgbClr val="000000"/>
                </a:solidFill>
                <a:latin typeface="+mn-lt"/>
                <a:ea typeface="+mn-ea"/>
                <a:cs typeface="+mn-lt"/>
              </a:rPr>
              <a:t>Q4 (Jun–Aug 2020):</a:t>
            </a:r>
            <a:r>
              <a:rPr sz="1400">
                <a:solidFill>
                  <a:srgbClr val="000000"/>
                </a:solidFill>
                <a:latin typeface="+mn-lt"/>
                <a:ea typeface="+mn-ea"/>
                <a:cs typeface="+mn-lt"/>
              </a:rPr>
              <a:t> Partial recovery but remained below Q1/Q2 levels</a:t>
            </a:r>
          </a:p>
        </p:txBody>
      </p:sp>
      <p:sp>
        <p:nvSpPr>
          <p:cNvPr id="13" name="Rectangle 12"/>
          <p:cNvSpPr/>
          <p:nvPr>
            <p:custDataLst>
              <p:tags r:id="rId5"/>
            </p:custDataLst>
          </p:nvPr>
        </p:nvSpPr>
        <p:spPr>
          <a:xfrm>
            <a:off x="5943600" y="4114800"/>
            <a:ext cx="5867400" cy="11430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9pPr>
          </a:lstStyle>
          <a:p>
            <a:pPr marL="0">
              <a:spcBef>
                <a:spcPct val="21875"/>
              </a:spcBef>
              <a:spcAft>
                <a:spcPct val="21875"/>
              </a:spcAft>
            </a:pPr>
            <a:r>
              <a:rPr sz="1500">
                <a:solidFill>
                  <a:srgbClr val="000000"/>
                </a:solidFill>
                <a:latin typeface="+mn-lt"/>
                <a:ea typeface="+mn-ea"/>
                <a:cs typeface="+mn-lt"/>
              </a:rPr>
              <a:t>Q1 recorded the peak due to the convergence of </a:t>
            </a:r>
            <a:r>
              <a:rPr sz="1500" b="1">
                <a:solidFill>
                  <a:srgbClr val="000000"/>
                </a:solidFill>
                <a:latin typeface="+mn-lt"/>
                <a:ea typeface="+mn-ea"/>
                <a:cs typeface="+mn-lt"/>
              </a:rPr>
              <a:t>festive season demand</a:t>
            </a:r>
            <a:r>
              <a:rPr sz="1500">
                <a:solidFill>
                  <a:srgbClr val="000000"/>
                </a:solidFill>
                <a:latin typeface="+mn-lt"/>
                <a:ea typeface="+mn-ea"/>
                <a:cs typeface="+mn-lt"/>
              </a:rPr>
              <a:t> (Diwali, Dussehra in October–November) and back-to-school/college IT procurement cycles in September. Subsequent quarters saw demand erosion as pandemic disruptions took hold from March 2020 onward. </a:t>
            </a:r>
          </a:p>
        </p:txBody>
      </p:sp>
      <p:sp>
        <p:nvSpPr>
          <p:cNvPr id="16" name="New shape"/>
          <p:cNvSpPr/>
          <p:nvPr>
            <p:custDataLst>
              <p:tags r:id="rId6"/>
            </p:custDataLst>
          </p:nvPr>
        </p:nvSpPr>
        <p:spPr>
          <a:xfrm>
            <a:off x="381000" y="5593080"/>
            <a:ext cx="11430000" cy="762000"/>
          </a:xfrm>
          <a:custGeom>
            <a:avLst/>
            <a:gdLst/>
            <a:ahLst/>
            <a:cxnLst/>
            <a:rect l="l" t="t" r="r" b="b"/>
            <a:pathLst>
              <a:path w="11430000" h="762000">
                <a:moveTo>
                  <a:pt x="0" y="0"/>
                </a:moveTo>
                <a:lnTo>
                  <a:pt x="11430000" y="0"/>
                </a:lnTo>
                <a:lnTo>
                  <a:pt x="11430000" y="762000"/>
                </a:lnTo>
                <a:lnTo>
                  <a:pt x="0" y="762000"/>
                </a:lnTo>
                <a:close/>
              </a:path>
            </a:pathLst>
          </a:custGeom>
          <a:gradFill>
            <a:gsLst>
              <a:gs pos="0">
                <a:srgbClr val="084032"/>
              </a:gs>
              <a:gs pos="100000">
                <a:srgbClr val="000000"/>
              </a:gs>
            </a:gsLst>
            <a:lin ang="2700000"/>
          </a:gradFill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7" name="Rectangle 16"/>
          <p:cNvSpPr/>
          <p:nvPr>
            <p:custDataLst>
              <p:tags r:id="rId7"/>
            </p:custDataLst>
          </p:nvPr>
        </p:nvSpPr>
        <p:spPr>
          <a:xfrm>
            <a:off x="609600" y="5593080"/>
            <a:ext cx="10972800" cy="7620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9pPr>
          </a:lstStyle>
          <a:p>
            <a:pPr marL="0">
              <a:spcBef>
                <a:spcPct val="21875"/>
              </a:spcBef>
              <a:spcAft>
                <a:spcPct val="21875"/>
              </a:spcAft>
            </a:pPr>
            <a:r>
              <a:rPr sz="1750" dirty="0">
                <a:solidFill>
                  <a:srgbClr val="FFFFFF"/>
                </a:solidFill>
                <a:latin typeface="+mn-lt"/>
                <a:ea typeface="+mn-ea"/>
                <a:cs typeface="+mn-lt"/>
              </a:rPr>
              <a:t>Q1's dominance confirms festive-season demand as </a:t>
            </a:r>
            <a:r>
              <a:rPr sz="1750" dirty="0" err="1">
                <a:solidFill>
                  <a:srgbClr val="FFFFFF"/>
                </a:solidFill>
                <a:latin typeface="+mn-lt"/>
                <a:ea typeface="+mn-ea"/>
                <a:cs typeface="+mn-lt"/>
              </a:rPr>
              <a:t>AtliQ's</a:t>
            </a:r>
            <a:r>
              <a:rPr sz="1750" dirty="0">
                <a:solidFill>
                  <a:srgbClr val="FFFFFF"/>
                </a:solidFill>
                <a:latin typeface="+mn-lt"/>
                <a:ea typeface="+mn-ea"/>
                <a:cs typeface="+mn-lt"/>
              </a:rPr>
              <a:t> primary volume driver — supply chain and production planning should treat September–November as the critical fulfillment window. 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99B18797-7640-4699-91DF-228E5F1F485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1897062"/>
              </p:ext>
            </p:extLst>
          </p:nvPr>
        </p:nvGraphicFramePr>
        <p:xfrm>
          <a:off x="380998" y="1524000"/>
          <a:ext cx="4953002" cy="35813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F6DC1-8DF5-1C32-2A49-7634CD307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40737-74E2-CC8A-015B-E7162E5380F5}"/>
              </a:ext>
            </a:extLst>
          </p:cNvPr>
          <p:cNvSpPr txBox="1">
            <a:spLocks noGrp="1"/>
          </p:cNvSpPr>
          <p:nvPr>
            <p:ph type="title" idx="10"/>
            <p:custDataLst>
              <p:tags r:id="rId1"/>
            </p:custDataLst>
          </p:nvPr>
        </p:nvSpPr>
        <p:spPr>
          <a:xfrm>
            <a:off x="408101" y="293088"/>
            <a:ext cx="11431802" cy="835157"/>
          </a:xfrm>
        </p:spPr>
        <p:txBody>
          <a:bodyPr lIns="0" rIns="0">
            <a:normAutofit/>
          </a:bodyPr>
          <a:lstStyle/>
          <a:p>
            <a:pPr lvl="0">
              <a:spcBef>
                <a:spcPct val="21875"/>
              </a:spcBef>
              <a:spcAft>
                <a:spcPct val="21875"/>
              </a:spcAft>
            </a:pPr>
            <a:r>
              <a:rPr lang="en-US" sz="2378" dirty="0">
                <a:latin typeface="+mj-lt"/>
                <a:cs typeface="+mj-lt"/>
              </a:rPr>
              <a:t>9. Which channel helped to bring more gross sales in the fiscal year 2021 </a:t>
            </a:r>
            <a:br>
              <a:rPr lang="en-US" sz="2378" dirty="0">
                <a:latin typeface="+mj-lt"/>
                <a:cs typeface="+mj-lt"/>
              </a:rPr>
            </a:br>
            <a:r>
              <a:rPr lang="en-US" sz="2378" dirty="0">
                <a:latin typeface="+mj-lt"/>
                <a:cs typeface="+mj-lt"/>
              </a:rPr>
              <a:t>and the percentage of contribution?</a:t>
            </a:r>
            <a:endParaRPr lang="en-US" sz="2378" dirty="0">
              <a:latin typeface="+mj-lt"/>
              <a:ea typeface="+mj-ea"/>
              <a:cs typeface="+mj-l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79B1DA-0093-F8F1-1CE7-A8C2F055E7A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5943600" y="1371600"/>
            <a:ext cx="5867400" cy="3048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9pPr>
          </a:lstStyle>
          <a:p>
            <a:pPr>
              <a:buNone/>
            </a:pPr>
            <a:r>
              <a:rPr lang="en-IN" sz="1600" b="1" dirty="0"/>
              <a:t>Key Insights – Gross Sales by Channel (FY2021)</a:t>
            </a:r>
          </a:p>
        </p:txBody>
      </p:sp>
      <p:sp>
        <p:nvSpPr>
          <p:cNvPr id="11" name="New shape">
            <a:extLst>
              <a:ext uri="{FF2B5EF4-FFF2-40B4-BE49-F238E27FC236}">
                <a16:creationId xmlns:a16="http://schemas.microsoft.com/office/drawing/2014/main" id="{05E4E587-E70E-A838-BACF-93FF57D0F13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943600" y="1752600"/>
            <a:ext cx="5867400" cy="0"/>
          </a:xfrm>
          <a:custGeom>
            <a:avLst/>
            <a:gdLst/>
            <a:ahLst/>
            <a:cxnLst/>
            <a:rect l="l" t="t" r="r" b="b"/>
            <a:pathLst>
              <a:path w="5867400">
                <a:moveTo>
                  <a:pt x="0" y="0"/>
                </a:moveTo>
                <a:lnTo>
                  <a:pt x="5867400" y="0"/>
                </a:lnTo>
              </a:path>
            </a:pathLst>
          </a:custGeom>
          <a:solidFill>
            <a:srgbClr val="000000">
              <a:alpha val="100000"/>
            </a:srgbClr>
          </a:solidFill>
          <a:ln w="9525" cmpd="sng">
            <a:solidFill>
              <a:srgbClr val="000000"/>
            </a:solidFill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40B15E1-BF46-7EBD-7BD3-BBB64C2430CA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943600" y="1905000"/>
            <a:ext cx="5867400" cy="19812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9pPr>
          </a:lstStyle>
          <a:p>
            <a:pPr marL="152400" lvl="1" indent="-152400">
              <a:spcAft>
                <a:spcPts val="500"/>
              </a:spcAft>
              <a:buChar char="•"/>
            </a:pPr>
            <a:endParaRPr sz="1400" dirty="0">
              <a:solidFill>
                <a:srgbClr val="000000"/>
              </a:solidFill>
              <a:latin typeface="+mn-lt"/>
              <a:ea typeface="+mn-ea"/>
              <a:cs typeface="+mn-lt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448C90D-59E6-C7A1-979F-5B0E8E9AB5D8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5943600" y="4114800"/>
            <a:ext cx="5867400" cy="11430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9pPr>
          </a:lstStyle>
          <a:p>
            <a:pPr marL="0">
              <a:spcBef>
                <a:spcPct val="21875"/>
              </a:spcBef>
              <a:spcAft>
                <a:spcPct val="21875"/>
              </a:spcAft>
            </a:pPr>
            <a:endParaRPr sz="1500" dirty="0">
              <a:solidFill>
                <a:srgbClr val="000000"/>
              </a:solidFill>
              <a:latin typeface="+mn-lt"/>
              <a:ea typeface="+mn-ea"/>
              <a:cs typeface="+mn-lt"/>
            </a:endParaRPr>
          </a:p>
        </p:txBody>
      </p:sp>
      <p:sp>
        <p:nvSpPr>
          <p:cNvPr id="16" name="New shape">
            <a:extLst>
              <a:ext uri="{FF2B5EF4-FFF2-40B4-BE49-F238E27FC236}">
                <a16:creationId xmlns:a16="http://schemas.microsoft.com/office/drawing/2014/main" id="{973B9FA3-D2E4-4D11-F6B3-464A31B702C7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409903" y="5427580"/>
            <a:ext cx="11430000" cy="762000"/>
          </a:xfrm>
          <a:custGeom>
            <a:avLst/>
            <a:gdLst/>
            <a:ahLst/>
            <a:cxnLst/>
            <a:rect l="l" t="t" r="r" b="b"/>
            <a:pathLst>
              <a:path w="11430000" h="762000">
                <a:moveTo>
                  <a:pt x="0" y="0"/>
                </a:moveTo>
                <a:lnTo>
                  <a:pt x="11430000" y="0"/>
                </a:lnTo>
                <a:lnTo>
                  <a:pt x="11430000" y="762000"/>
                </a:lnTo>
                <a:lnTo>
                  <a:pt x="0" y="762000"/>
                </a:lnTo>
                <a:close/>
              </a:path>
            </a:pathLst>
          </a:custGeom>
          <a:gradFill>
            <a:gsLst>
              <a:gs pos="0">
                <a:srgbClr val="084032"/>
              </a:gs>
              <a:gs pos="100000">
                <a:srgbClr val="000000"/>
              </a:gs>
            </a:gsLst>
            <a:lin ang="2700000"/>
          </a:gradFill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9pPr>
          </a:lstStyle>
          <a:p>
            <a:endParaRPr lang="en-IN" sz="1700" b="1" dirty="0">
              <a:solidFill>
                <a:schemeClr val="bg1"/>
              </a:solidFill>
            </a:endParaRPr>
          </a:p>
          <a:p>
            <a:r>
              <a:rPr lang="en-IN" sz="1700" b="1" dirty="0">
                <a:solidFill>
                  <a:schemeClr val="bg1"/>
                </a:solidFill>
              </a:rPr>
              <a:t>Retailers are the primary revenue driver, contributing 73% of total gross sales in FY2021, highlighting both the channel’s strength and the need to diversify through Direct and Distributor channels.</a:t>
            </a:r>
            <a:endParaRPr lang="en-IN" sz="1700" dirty="0">
              <a:solidFill>
                <a:schemeClr val="bg1"/>
              </a:solidFill>
            </a:endParaRPr>
          </a:p>
          <a:p>
            <a:pPr algn="ctr"/>
            <a:endParaRPr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1B0E218-2D6F-0F7F-15C3-973268AA770C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609600" y="5593080"/>
            <a:ext cx="10972800" cy="7620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9pPr>
          </a:lstStyle>
          <a:p>
            <a:pPr marL="0">
              <a:spcBef>
                <a:spcPct val="21875"/>
              </a:spcBef>
              <a:spcAft>
                <a:spcPct val="21875"/>
              </a:spcAft>
            </a:pPr>
            <a:endParaRPr sz="1750" dirty="0">
              <a:solidFill>
                <a:srgbClr val="FFFFFF"/>
              </a:solidFill>
              <a:latin typeface="+mn-lt"/>
              <a:ea typeface="+mn-ea"/>
              <a:cs typeface="+mn-lt"/>
            </a:endParaRP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AEFE4854-752D-4F17-BDDD-BD65F117053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72985658"/>
              </p:ext>
            </p:extLst>
          </p:nvPr>
        </p:nvGraphicFramePr>
        <p:xfrm>
          <a:off x="533400" y="1523999"/>
          <a:ext cx="4876800" cy="32765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504284C-6F20-10DA-4933-02E0062958AC}"/>
              </a:ext>
            </a:extLst>
          </p:cNvPr>
          <p:cNvSpPr txBox="1"/>
          <p:nvPr/>
        </p:nvSpPr>
        <p:spPr>
          <a:xfrm>
            <a:off x="5557346" y="1784131"/>
            <a:ext cx="6101254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b="1" dirty="0"/>
              <a:t>Retailer is the dominant channel</a:t>
            </a:r>
            <a:r>
              <a:rPr lang="en-IN" sz="1400" dirty="0"/>
              <a:t>, contributing </a:t>
            </a:r>
            <a:r>
              <a:rPr lang="en-IN" sz="1400" b="1" dirty="0"/>
              <a:t>73%</a:t>
            </a:r>
            <a:r>
              <a:rPr lang="en-IN" sz="1400" dirty="0"/>
              <a:t> of total gross sales (3,708.46), making it the primary revenue driver.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b="1" dirty="0"/>
              <a:t>Direct sales contribute 16%</a:t>
            </a:r>
            <a:r>
              <a:rPr lang="en-IN" sz="1400" dirty="0"/>
              <a:t> (784.14), representing the second-largest channel but significantly trailing Retailers.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b="1" dirty="0"/>
              <a:t>Distributors account for 11%</a:t>
            </a:r>
            <a:r>
              <a:rPr lang="en-IN" sz="1400" dirty="0"/>
              <a:t> of gross sales (572.86), making them the smallest contributor among the three channels.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b="1" dirty="0"/>
              <a:t>Retailer sales are more than 4× higher than Distributor sales</a:t>
            </a:r>
            <a:r>
              <a:rPr lang="en-IN" sz="1400" dirty="0"/>
              <a:t>, highlighting a strong dependence on the Retailer channel.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b="1" dirty="0"/>
              <a:t>Channel diversification is an opportunity</a:t>
            </a:r>
            <a:r>
              <a:rPr lang="en-IN" sz="1400" dirty="0"/>
              <a:t>: strengthening Direct and Distributor channels could reduce reliance on Retailers and create additional avenues for revenue growth.</a:t>
            </a:r>
          </a:p>
        </p:txBody>
      </p:sp>
    </p:spTree>
    <p:extLst>
      <p:ext uri="{BB962C8B-B14F-4D97-AF65-F5344CB8AC3E}">
        <p14:creationId xmlns:p14="http://schemas.microsoft.com/office/powerpoint/2010/main" val="4262568297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AFC95-8927-318E-FF4F-B116418FF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72B9B-8FAC-C64B-23DB-2E35B088659D}"/>
              </a:ext>
            </a:extLst>
          </p:cNvPr>
          <p:cNvSpPr txBox="1">
            <a:spLocks noGrp="1"/>
          </p:cNvSpPr>
          <p:nvPr>
            <p:ph type="title" idx="10"/>
            <p:custDataLst>
              <p:tags r:id="rId1"/>
            </p:custDataLst>
          </p:nvPr>
        </p:nvSpPr>
        <p:spPr/>
        <p:txBody>
          <a:bodyPr lIns="0" rIns="0">
            <a:normAutofit/>
          </a:bodyPr>
          <a:lstStyle/>
          <a:p>
            <a:pPr lvl="0">
              <a:spcBef>
                <a:spcPct val="21875"/>
              </a:spcBef>
              <a:spcAft>
                <a:spcPct val="21875"/>
              </a:spcAft>
            </a:pPr>
            <a:r>
              <a:rPr lang="en-US" sz="2378" dirty="0">
                <a:latin typeface="+mj-lt"/>
                <a:cs typeface="+mj-lt"/>
              </a:rPr>
              <a:t> 10.  Get the Top 3 products in each division that have a high </a:t>
            </a:r>
            <a:br>
              <a:rPr lang="en-US" sz="2378" dirty="0">
                <a:latin typeface="+mj-lt"/>
                <a:cs typeface="+mj-lt"/>
              </a:rPr>
            </a:br>
            <a:r>
              <a:rPr lang="en-US" sz="2378" dirty="0">
                <a:latin typeface="+mj-lt"/>
                <a:cs typeface="+mj-lt"/>
              </a:rPr>
              <a:t>          total sold quantity in the fiscal year 2021?</a:t>
            </a:r>
            <a:endParaRPr lang="en-US" sz="2378" dirty="0">
              <a:latin typeface="+mj-lt"/>
              <a:ea typeface="+mj-ea"/>
              <a:cs typeface="+mj-l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5016AC6-A4BF-AD09-9D73-0322560B6C0B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5943600" y="1371600"/>
            <a:ext cx="5867400" cy="3048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9pPr>
          </a:lstStyle>
          <a:p>
            <a:pPr marL="0">
              <a:spcBef>
                <a:spcPct val="21875"/>
              </a:spcBef>
              <a:spcAft>
                <a:spcPct val="21875"/>
              </a:spcAft>
            </a:pPr>
            <a:endParaRPr sz="1400" b="1" dirty="0">
              <a:solidFill>
                <a:srgbClr val="000000"/>
              </a:solidFill>
              <a:latin typeface="+mn-lt"/>
              <a:ea typeface="+mn-ea"/>
              <a:cs typeface="+mn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A414D98-5FB3-FC5C-FDC9-4AB307281E8B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943600" y="1905000"/>
            <a:ext cx="5867400" cy="19812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9pPr>
          </a:lstStyle>
          <a:p>
            <a:pPr marL="152400" lvl="1" indent="-152400">
              <a:spcAft>
                <a:spcPts val="500"/>
              </a:spcAft>
              <a:buChar char="•"/>
            </a:pPr>
            <a:endParaRPr sz="1400" dirty="0">
              <a:solidFill>
                <a:srgbClr val="000000"/>
              </a:solidFill>
              <a:latin typeface="+mn-lt"/>
              <a:ea typeface="+mn-ea"/>
              <a:cs typeface="+mn-lt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AB367B-3054-E0C3-1934-E9D44C1D9444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943600" y="4114800"/>
            <a:ext cx="5867400" cy="11430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9pPr>
          </a:lstStyle>
          <a:p>
            <a:pPr marL="0">
              <a:spcBef>
                <a:spcPct val="21875"/>
              </a:spcBef>
              <a:spcAft>
                <a:spcPct val="21875"/>
              </a:spcAft>
            </a:pPr>
            <a:endParaRPr sz="1500" dirty="0">
              <a:solidFill>
                <a:srgbClr val="000000"/>
              </a:solidFill>
              <a:latin typeface="+mn-lt"/>
              <a:ea typeface="+mn-ea"/>
              <a:cs typeface="+mn-lt"/>
            </a:endParaRPr>
          </a:p>
        </p:txBody>
      </p:sp>
      <p:sp>
        <p:nvSpPr>
          <p:cNvPr id="16" name="New shape">
            <a:extLst>
              <a:ext uri="{FF2B5EF4-FFF2-40B4-BE49-F238E27FC236}">
                <a16:creationId xmlns:a16="http://schemas.microsoft.com/office/drawing/2014/main" id="{9A581E00-A4E4-EB78-012E-B052616DECB4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381000" y="5593080"/>
            <a:ext cx="11430000" cy="762000"/>
          </a:xfrm>
          <a:custGeom>
            <a:avLst/>
            <a:gdLst/>
            <a:ahLst/>
            <a:cxnLst/>
            <a:rect l="l" t="t" r="r" b="b"/>
            <a:pathLst>
              <a:path w="11430000" h="762000">
                <a:moveTo>
                  <a:pt x="0" y="0"/>
                </a:moveTo>
                <a:lnTo>
                  <a:pt x="11430000" y="0"/>
                </a:lnTo>
                <a:lnTo>
                  <a:pt x="11430000" y="762000"/>
                </a:lnTo>
                <a:lnTo>
                  <a:pt x="0" y="762000"/>
                </a:lnTo>
                <a:close/>
              </a:path>
            </a:pathLst>
          </a:custGeom>
          <a:gradFill>
            <a:gsLst>
              <a:gs pos="0">
                <a:srgbClr val="084032"/>
              </a:gs>
              <a:gs pos="100000">
                <a:srgbClr val="000000"/>
              </a:gs>
            </a:gsLst>
            <a:lin ang="2700000"/>
          </a:gradFill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77AFAD4-1E4B-F994-2966-41FEF96722CB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609600" y="5593080"/>
            <a:ext cx="10972800" cy="7620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9pPr>
          </a:lstStyle>
          <a:p>
            <a:pPr marL="0">
              <a:spcBef>
                <a:spcPct val="21875"/>
              </a:spcBef>
              <a:spcAft>
                <a:spcPct val="21875"/>
              </a:spcAft>
            </a:pPr>
            <a:endParaRPr sz="1750" dirty="0">
              <a:solidFill>
                <a:srgbClr val="FFFFFF"/>
              </a:solidFill>
              <a:latin typeface="+mn-lt"/>
              <a:ea typeface="+mn-ea"/>
              <a:cs typeface="+mn-lt"/>
            </a:endParaRP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0FEA5F00-86D3-49D1-B5BD-945A3A21DB1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31505188"/>
              </p:ext>
            </p:extLst>
          </p:nvPr>
        </p:nvGraphicFramePr>
        <p:xfrm>
          <a:off x="380998" y="1143000"/>
          <a:ext cx="10515602" cy="43624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</p:spTree>
    <p:extLst>
      <p:ext uri="{BB962C8B-B14F-4D97-AF65-F5344CB8AC3E}">
        <p14:creationId xmlns:p14="http://schemas.microsoft.com/office/powerpoint/2010/main" val="2998695207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2464C-6F00-A49A-0DB8-F77CE38E7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47225-9BD9-5ABC-1FE4-E9216D7C4AFD}"/>
              </a:ext>
            </a:extLst>
          </p:cNvPr>
          <p:cNvSpPr txBox="1">
            <a:spLocks noGrp="1"/>
          </p:cNvSpPr>
          <p:nvPr>
            <p:ph type="title" idx="10"/>
            <p:custDataLst>
              <p:tags r:id="rId1"/>
            </p:custDataLst>
          </p:nvPr>
        </p:nvSpPr>
        <p:spPr/>
        <p:txBody>
          <a:bodyPr lIns="0" rIns="0">
            <a:normAutofit/>
          </a:bodyPr>
          <a:lstStyle/>
          <a:p>
            <a:pPr marL="0" lvl="0" algn="l">
              <a:spcBef>
                <a:spcPct val="21875"/>
              </a:spcBef>
              <a:spcAft>
                <a:spcPct val="21875"/>
              </a:spcAft>
            </a:pPr>
            <a:r>
              <a:rPr lang="en-US" sz="2380" dirty="0">
                <a:latin typeface="+mj-lt"/>
                <a:cs typeface="+mj-lt"/>
              </a:rPr>
              <a:t>What we have achieved </a:t>
            </a:r>
            <a:endParaRPr lang="en-US" sz="2380" dirty="0">
              <a:latin typeface="+mj-lt"/>
              <a:ea typeface="+mj-ea"/>
              <a:cs typeface="+mj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0F0F01-E0B4-EC42-9649-A0DD37A2503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79200" y="990600"/>
            <a:ext cx="11430000" cy="44196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9pPr>
          </a:lstStyle>
          <a:p>
            <a:r>
              <a:rPr lang="en-IN" sz="2000" b="1" dirty="0"/>
              <a:t>10 Business Questions. Clear, Actionable Answers.</a:t>
            </a:r>
          </a:p>
          <a:p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Market Visibility:</a:t>
            </a:r>
            <a:r>
              <a:rPr lang="en-IN" dirty="0"/>
              <a:t> We mapped </a:t>
            </a:r>
            <a:r>
              <a:rPr lang="en-IN" dirty="0" err="1"/>
              <a:t>AtliQ</a:t>
            </a:r>
            <a:r>
              <a:rPr lang="en-IN" dirty="0"/>
              <a:t> Exclusive’s presence across 8 APAC markets, giving leadership a clear view of regional reach and diversification.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Portfolio Growth</a:t>
            </a:r>
            <a:r>
              <a:rPr lang="en-IN" dirty="0"/>
              <a:t> Products grew 36% year-on-year (245 → 334). Accessories led the way with 34 new additions, while Storage and Networking remain untapped opportunities.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Cost Transparency:</a:t>
            </a:r>
            <a:r>
              <a:rPr lang="en-IN" dirty="0"/>
              <a:t> We uncovered a huge spread in manufacturing costs — from ₹0.86 to ₹263 per unit — paving the way for smarter, margin-aware pricing.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Discount Oversight:</a:t>
            </a:r>
            <a:r>
              <a:rPr lang="en-IN" dirty="0"/>
              <a:t> Top Indian customers like Flipkart, Amazon, and Croma received average discounts above 29%. Finance now has the data to renegotiate.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Sales Rhythm:</a:t>
            </a:r>
            <a:r>
              <a:rPr lang="en-IN" dirty="0"/>
              <a:t> Sales consistently peak in November and dip in March–April. Supply chain can now plan around September–November as the critical window.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Channel Clarity:</a:t>
            </a:r>
            <a:r>
              <a:rPr lang="en-IN" dirty="0"/>
              <a:t> Retail dominates with 73% of sales, compared to Direct (16%) and Distributor (11%). Diversification is clearly needed.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Volume Leadership</a:t>
            </a:r>
            <a:r>
              <a:rPr lang="en-IN" dirty="0"/>
              <a:t> Q1 is the strongest quarter with 7M+ units sold. Pen Drives lead Storage, while AQ Gamers Ms and Maxima Ms dominate Peripherals.</a:t>
            </a:r>
          </a:p>
          <a:p>
            <a:pPr marL="0" lvl="1">
              <a:spcAft>
                <a:spcPts val="500"/>
              </a:spcAft>
            </a:pPr>
            <a:endParaRPr sz="1350" dirty="0">
              <a:solidFill>
                <a:srgbClr val="000000"/>
              </a:solidFill>
              <a:latin typeface="+mn-lt"/>
              <a:ea typeface="+mn-ea"/>
              <a:cs typeface="+mn-l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D5AB3BD-BB1D-3D6E-C6C2-8052DD3B1294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63434" y="5685570"/>
            <a:ext cx="10972800" cy="51816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Noto Sans CJK SC"/>
                <a:cs typeface="+mn-cs"/>
              </a:defRPr>
            </a:lvl9pPr>
          </a:lstStyle>
          <a:p>
            <a:pPr>
              <a:spcBef>
                <a:spcPct val="21875"/>
              </a:spcBef>
              <a:spcAft>
                <a:spcPct val="21875"/>
              </a:spcAft>
            </a:pPr>
            <a:r>
              <a:rPr lang="en-IN" sz="1600" b="1" dirty="0">
                <a:solidFill>
                  <a:schemeClr val="bg1"/>
                </a:solidFill>
              </a:rPr>
              <a:t>From raw data to real decisions — every insight here translates into concrete business action.</a:t>
            </a:r>
            <a:endParaRPr lang="en-IN" sz="1600" dirty="0">
              <a:solidFill>
                <a:schemeClr val="bg1"/>
              </a:solidFill>
            </a:endParaRPr>
          </a:p>
          <a:p>
            <a:pPr marL="0" algn="l">
              <a:spcBef>
                <a:spcPct val="21875"/>
              </a:spcBef>
              <a:spcAft>
                <a:spcPct val="21875"/>
              </a:spcAft>
            </a:pPr>
            <a:endParaRPr sz="1700" dirty="0">
              <a:solidFill>
                <a:schemeClr val="bg1"/>
              </a:solidFill>
              <a:latin typeface="+mn-lt"/>
              <a:ea typeface="+mn-ea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1156992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3.1.32"/>
  <p:tag name="AS_OS" val="Unix 6.1.177.0"/>
  <p:tag name="AS_RELEASE_DATE" val="2025.06.14"/>
  <p:tag name="AS_TITLE" val="Aspose.Slides for Python via .NET"/>
  <p:tag name="AS_VERSION" val="25.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9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3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4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7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9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6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7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8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9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3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5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6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2"/>
  <p:tag name="DATA-GROUP" val="group_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5"/>
  <p:tag name="DATA-GROUP" val="group_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6"/>
  <p:tag name="DATA-GROUP" val="group_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3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4"/>
  <p:tag name="DATA-GROUP" val="group_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9"/>
  <p:tag name="DATA-GROUP" val="group_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0"/>
  <p:tag name="DATA-GROUP" val="group_2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1"/>
  <p:tag name="DATA-GROUP" val="group_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2"/>
  <p:tag name="DATA-GROUP" val="group_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3"/>
  <p:tag name="DATA-GROUP" val="group_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4"/>
  <p:tag name="DATA-GROUP" val="group_2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6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5"/>
  <p:tag name="DATA-GROUP" val="group_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2"/>
  <p:tag name="DATA-GROUP" val="group_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2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3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4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5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6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2"/>
  <p:tag name="DATA-GROUP" val="group_0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8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0"/>
  <p:tag name="DATA-GROUP" val="group_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1"/>
  <p:tag name="DATA-GROUP" val="group_2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0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2"/>
  <p:tag name="DATA-GROUP" val="group_3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4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3"/>
  <p:tag name="DATA-GROUP" val="group_4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9"/>
  <p:tag name="DATA-GROUP" val="group_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2"/>
  <p:tag name="DATA-GROUP" val="group_0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4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3"/>
  <p:tag name="DATA-GROUP" val="group_annotations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6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4"/>
  <p:tag name="DATA-GROUP" val="group_annotations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8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5"/>
  <p:tag name="DATA-GROUP" val="group_takeaway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2"/>
  <p:tag name="DATA-GROUP" val="group_0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8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5"/>
  <p:tag name="DATA-GROUP" val="group_takeaway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3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7"/>
  <p:tag name="DATA-GROUP" val="group_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8"/>
  <p:tag name="DATA-GROUP" val="group_2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2"/>
  <p:tag name="DATA-GROUP" val="group_0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4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3"/>
  <p:tag name="DATA-GROUP" val="group_2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4"/>
  <p:tag name="DATA-GROUP" val="group_3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8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5"/>
  <p:tag name="DATA-GROUP" val="group_4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2"/>
  <p:tag name="DATA-GROUP" val="group_0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6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7"/>
  <p:tag name="DATA-GROUP" val="group_3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8"/>
  <p:tag name="DATA-GROUP" val="group_4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8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9"/>
  <p:tag name="DATA-GROUP" val="group_5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2"/>
  <p:tag name="DATA-GROUP" val="group_0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2"/>
  <p:tag name="DATA-GROUP" val="group_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6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3"/>
  <p:tag name="DATA-GROUP" val="group_2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4"/>
  <p:tag name="DATA-GROUP" val="group_3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8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5"/>
  <p:tag name="DATA-GROUP" val="group_4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2"/>
  <p:tag name="DATA-GROUP" val="group_0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2"/>
  <p:tag name="DATA-GROUP" val="group_1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6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3"/>
  <p:tag name="DATA-GROUP" val="group_2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4"/>
  <p:tag name="DATA-GROUP" val="group_3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8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5"/>
  <p:tag name="DATA-GROUP" val="group_4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2"/>
  <p:tag name="DATA-GROUP" val="group_0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2"/>
  <p:tag name="DATA-GROUP" val="group_1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3"/>
  <p:tag name="DATA-GROUP" val="group_2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4"/>
  <p:tag name="DATA-GROUP" val="group_3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8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5"/>
  <p:tag name="DATA-GROUP" val="group_4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2"/>
  <p:tag name="DATA-GROUP" val="group_0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7"/>
  <p:tag name="DATA-GROUP" val="group_1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8"/>
  <p:tag name="DATA-GROUP" val="group_2"/>
</p:tagLst>
</file>

<file path=ppt/theme/theme1.xml><?xml version="1.0" encoding="utf-8"?>
<a:theme xmlns:a="http://schemas.openxmlformats.org/drawingml/2006/main" name="Office Theme">
  <a:themeElements>
    <a:clrScheme name="PRCPTS_0526">
      <a:dk1>
        <a:srgbClr val="000000"/>
      </a:dk1>
      <a:lt1>
        <a:srgbClr val="FFFFFF"/>
      </a:lt1>
      <a:dk2>
        <a:srgbClr val="0C1D17"/>
      </a:dk2>
      <a:lt2>
        <a:srgbClr val="F0F3F2"/>
      </a:lt2>
      <a:accent1>
        <a:srgbClr val="084032"/>
      </a:accent1>
      <a:accent2>
        <a:srgbClr val="009368"/>
      </a:accent2>
      <a:accent3>
        <a:srgbClr val="00C987"/>
      </a:accent3>
      <a:accent4>
        <a:srgbClr val="ABFFE2"/>
      </a:accent4>
      <a:accent5>
        <a:srgbClr val="14F1AB"/>
      </a:accent5>
      <a:accent6>
        <a:srgbClr val="ABFFE3"/>
      </a:accent6>
      <a:hlink>
        <a:srgbClr val="00CA88"/>
      </a:hlink>
      <a:folHlink>
        <a:srgbClr val="064E3B"/>
      </a:folHlink>
    </a:clrScheme>
    <a:fontScheme name="Custom 8">
      <a:majorFont>
        <a:latin typeface="Cambria"/>
        <a:ea typeface="Cambria"/>
        <a:cs typeface="Arial"/>
      </a:majorFont>
      <a:minorFont>
        <a:latin typeface="Trebuchet MS"/>
        <a:ea typeface="Trebuchet MS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Aptos Display" panose="0211000402020202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Aptos" panose="0211000402020202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Aptos Display" panose="0211000402020202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Aptos" panose="0211000402020202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15642</TotalTime>
  <Words>1440</Words>
  <Application>Microsoft Office PowerPoint</Application>
  <PresentationFormat>Widescreen</PresentationFormat>
  <Paragraphs>98</Paragraphs>
  <Slides>13</Slides>
  <Notes>0</Notes>
  <HiddenSlides>0</HiddenSlides>
  <MMClips>0</MMClips>
  <ScaleCrop>false</ScaleCrop>
  <HeadingPairs>
    <vt:vector size="10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Links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Aptos</vt:lpstr>
      <vt:lpstr>Arial</vt:lpstr>
      <vt:lpstr>Calibri</vt:lpstr>
      <vt:lpstr>Cambria</vt:lpstr>
      <vt:lpstr>Cambria Headings</vt:lpstr>
      <vt:lpstr>Trebuchet MS</vt:lpstr>
      <vt:lpstr>Office Theme</vt:lpstr>
      <vt:lpstr>https://d.docs.live.net/a325add542d55a26/Desktop/Data Analyst Bootcamp/Data Analyst Bootcamp/Job Application Tips/2. SQL Project for your Portfolio/Visuals for Query Resuls .xlsx!7![Visuals for Query Resuls .xlsx]7 Chart 1</vt:lpstr>
      <vt:lpstr>Worksheet</vt:lpstr>
      <vt:lpstr>Strategic Ad-Hoc Data Insights and Reporting for AtliQ Hardwares </vt:lpstr>
      <vt:lpstr>AtliQ Hardwares needs faster data-driven decisions to sustain its growth across global markets </vt:lpstr>
      <vt:lpstr>1. Provide the list of markets in which customer "Atliq Exclusive" operates its business in the APAC region.</vt:lpstr>
      <vt:lpstr>2. What is the percentage of unique product increase in 2021 vs. 2020?</vt:lpstr>
      <vt:lpstr> 3. Provide a report with all the unique product counts for each segment  and  sort them in descending order of product counts. </vt:lpstr>
      <vt:lpstr> 4. Which segment had the most increase in unique products in        2021 vs 2020? </vt:lpstr>
      <vt:lpstr>PowerPoint Presentation</vt:lpstr>
      <vt:lpstr> 6.  Generate a report which contains the top 5 customers who received an         average high  pre invoice discount pct  for the  fiscal  year 2021  and in the         Indian market. </vt:lpstr>
      <vt:lpstr> 7.  Get the complete report of the Gross sales amount for the customer “Atliq         Exclusive” for each month </vt:lpstr>
      <vt:lpstr>8. In which quarter of 2020 got the maximum total sold quantity?</vt:lpstr>
      <vt:lpstr>9. Which channel helped to bring more gross sales in the fiscal year 2021  and the percentage of contribution?</vt:lpstr>
      <vt:lpstr> 10.  Get the Top 3 products in each division that have a high            total sold quantity in the fiscal year 2021?</vt:lpstr>
      <vt:lpstr>What we have achieved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Jatin Kashyap</cp:lastModifiedBy>
  <cp:revision>74</cp:revision>
  <cp:lastPrinted>2026-01-13T09:01:18Z</cp:lastPrinted>
  <dcterms:created xsi:type="dcterms:W3CDTF">2026-01-13T09:01:18Z</dcterms:created>
  <dcterms:modified xsi:type="dcterms:W3CDTF">2026-09-08T07:30:25Z</dcterms:modified>
</cp:coreProperties>
</file>